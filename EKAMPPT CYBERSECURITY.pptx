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BFFF"/>
    <a:srgbClr val="66FFFF"/>
    <a:srgbClr val="9900CC"/>
    <a:srgbClr val="D60093"/>
    <a:srgbClr val="000066"/>
    <a:srgbClr val="061B3A"/>
    <a:srgbClr val="293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2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F72B7B-BDB5-447A-A0A4-FEDD12E03C1E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DD5175B-AAA4-438B-BB22-BE46E8286D5A}">
      <dgm:prSet phldrT="[Text]" custT="1"/>
      <dgm:spPr>
        <a:solidFill>
          <a:schemeClr val="tx1"/>
        </a:solidFill>
        <a:ln>
          <a:solidFill>
            <a:srgbClr val="00BFFF"/>
          </a:solidFill>
        </a:ln>
      </dgm:spPr>
      <dgm:t>
        <a:bodyPr/>
        <a:lstStyle/>
        <a:p>
          <a:pPr>
            <a:buNone/>
          </a:pPr>
          <a:r>
            <a:rPr lang="en-IN" sz="1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Active Directory</a:t>
          </a:r>
        </a:p>
      </dgm:t>
    </dgm:pt>
    <dgm:pt modelId="{FEA1D427-9449-43DC-A506-26166789B67B}" type="parTrans" cxnId="{95AF0333-FC8B-4E72-8BCE-DA39F4ECF3C2}">
      <dgm:prSet/>
      <dgm:spPr/>
      <dgm:t>
        <a:bodyPr/>
        <a:lstStyle/>
        <a:p>
          <a:endParaRPr lang="en-IN"/>
        </a:p>
      </dgm:t>
    </dgm:pt>
    <dgm:pt modelId="{D16BAC8D-8A04-4DA5-8D98-A0E7124440D9}" type="sibTrans" cxnId="{95AF0333-FC8B-4E72-8BCE-DA39F4ECF3C2}">
      <dgm:prSet/>
      <dgm:spPr/>
      <dgm:t>
        <a:bodyPr/>
        <a:lstStyle/>
        <a:p>
          <a:endParaRPr lang="en-IN"/>
        </a:p>
      </dgm:t>
    </dgm:pt>
    <dgm:pt modelId="{FF66402E-01F4-4943-BE7C-EADB1620C664}" type="asst">
      <dgm:prSet phldrT="[Text]" custT="1"/>
      <dgm:spPr>
        <a:solidFill>
          <a:schemeClr val="accent2"/>
        </a:solidFill>
        <a:ln>
          <a:solidFill>
            <a:srgbClr val="00BFFF"/>
          </a:solidFill>
        </a:ln>
      </dgm:spPr>
      <dgm:t>
        <a:bodyPr/>
        <a:lstStyle/>
        <a:p>
          <a:pPr>
            <a:buNone/>
          </a:pPr>
          <a:r>
            <a:rPr lang="en-IN" sz="1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Users</a:t>
          </a:r>
        </a:p>
      </dgm:t>
    </dgm:pt>
    <dgm:pt modelId="{A4DC2A06-F13F-43DC-B134-7BC516A88FD4}" type="parTrans" cxnId="{A0EE3FB2-D67A-492E-B370-2D98D85EED4D}">
      <dgm:prSet/>
      <dgm:spPr/>
      <dgm:t>
        <a:bodyPr/>
        <a:lstStyle/>
        <a:p>
          <a:endParaRPr lang="en-IN"/>
        </a:p>
      </dgm:t>
    </dgm:pt>
    <dgm:pt modelId="{2B2E487C-1712-4232-919B-4E04778807E4}" type="sibTrans" cxnId="{A0EE3FB2-D67A-492E-B370-2D98D85EED4D}">
      <dgm:prSet/>
      <dgm:spPr/>
      <dgm:t>
        <a:bodyPr/>
        <a:lstStyle/>
        <a:p>
          <a:endParaRPr lang="en-IN"/>
        </a:p>
      </dgm:t>
    </dgm:pt>
    <dgm:pt modelId="{27C42303-082A-4875-91DF-5A105DFE07B6}">
      <dgm:prSet phldrT="[Text]" custT="1"/>
      <dgm:spPr>
        <a:solidFill>
          <a:srgbClr val="00B050"/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IN" sz="1200" b="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Groups</a:t>
          </a:r>
          <a:r>
            <a:rPr lang="en-IN" sz="1200" b="0" dirty="0">
              <a:latin typeface="Segoe UI Semibold" panose="020B0702040204020203" pitchFamily="34" charset="0"/>
              <a:cs typeface="Segoe UI Semibold" panose="020B0702040204020203" pitchFamily="34" charset="0"/>
            </a:rPr>
            <a:t> </a:t>
          </a:r>
        </a:p>
      </dgm:t>
    </dgm:pt>
    <dgm:pt modelId="{64AB00D0-0078-418B-AF8C-73DE66147BA6}" type="parTrans" cxnId="{FF22B43A-C957-41D4-ACBA-12BC32D05C95}">
      <dgm:prSet/>
      <dgm:spPr/>
      <dgm:t>
        <a:bodyPr/>
        <a:lstStyle/>
        <a:p>
          <a:endParaRPr lang="en-IN"/>
        </a:p>
      </dgm:t>
    </dgm:pt>
    <dgm:pt modelId="{684147FC-06C8-4980-B98C-74607F93FE1D}" type="sibTrans" cxnId="{FF22B43A-C957-41D4-ACBA-12BC32D05C95}">
      <dgm:prSet/>
      <dgm:spPr/>
      <dgm:t>
        <a:bodyPr/>
        <a:lstStyle/>
        <a:p>
          <a:endParaRPr lang="en-IN"/>
        </a:p>
      </dgm:t>
    </dgm:pt>
    <dgm:pt modelId="{110015A8-66A7-463C-9E33-72528992761C}">
      <dgm:prSet phldrT="[Text]" custT="1"/>
      <dgm:spPr>
        <a:solidFill>
          <a:srgbClr val="FF0000"/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IN" sz="1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Computers</a:t>
          </a:r>
          <a:r>
            <a:rPr lang="en-IN" sz="800" dirty="0">
              <a:solidFill>
                <a:schemeClr val="bg1"/>
              </a:solidFill>
            </a:rPr>
            <a:t> </a:t>
          </a:r>
        </a:p>
      </dgm:t>
    </dgm:pt>
    <dgm:pt modelId="{475EF747-4177-4AC8-AD22-DFD02A67E907}" type="parTrans" cxnId="{0CF9150A-8A4B-48F6-99F7-FC73ACFC38D4}">
      <dgm:prSet/>
      <dgm:spPr/>
      <dgm:t>
        <a:bodyPr/>
        <a:lstStyle/>
        <a:p>
          <a:endParaRPr lang="en-IN"/>
        </a:p>
      </dgm:t>
    </dgm:pt>
    <dgm:pt modelId="{2F7CFBFA-45E7-448F-9A9E-3A4B16D02D24}" type="sibTrans" cxnId="{0CF9150A-8A4B-48F6-99F7-FC73ACFC38D4}">
      <dgm:prSet/>
      <dgm:spPr/>
      <dgm:t>
        <a:bodyPr/>
        <a:lstStyle/>
        <a:p>
          <a:endParaRPr lang="en-IN"/>
        </a:p>
      </dgm:t>
    </dgm:pt>
    <dgm:pt modelId="{CA37B8A5-1C80-4BD1-97E6-67BE73B29814}">
      <dgm:prSet phldrT="[Text]" custT="1"/>
      <dgm:spPr>
        <a:solidFill>
          <a:srgbClr val="D60093"/>
        </a:solidFill>
        <a:ln>
          <a:solidFill>
            <a:srgbClr val="00B0F0"/>
          </a:solidFill>
        </a:ln>
      </dgm:spPr>
      <dgm:t>
        <a:bodyPr/>
        <a:lstStyle/>
        <a:p>
          <a:pPr>
            <a:buNone/>
          </a:pPr>
          <a:r>
            <a:rPr lang="en-IN" sz="1200" baseline="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OUs</a:t>
          </a:r>
        </a:p>
      </dgm:t>
    </dgm:pt>
    <dgm:pt modelId="{6BE20337-3AFA-473E-8BFE-CAE12E33270D}" type="parTrans" cxnId="{EF0AC51A-8E25-4B2F-9C9B-711E03577D6C}">
      <dgm:prSet/>
      <dgm:spPr/>
      <dgm:t>
        <a:bodyPr/>
        <a:lstStyle/>
        <a:p>
          <a:endParaRPr lang="en-IN"/>
        </a:p>
      </dgm:t>
    </dgm:pt>
    <dgm:pt modelId="{E6B6AC76-D6B9-4A70-B86F-A65C61F317C4}" type="sibTrans" cxnId="{EF0AC51A-8E25-4B2F-9C9B-711E03577D6C}">
      <dgm:prSet/>
      <dgm:spPr/>
      <dgm:t>
        <a:bodyPr/>
        <a:lstStyle/>
        <a:p>
          <a:endParaRPr lang="en-IN"/>
        </a:p>
      </dgm:t>
    </dgm:pt>
    <dgm:pt modelId="{7DE8648C-16DF-4565-8E4F-F0B403C75C41}" type="pres">
      <dgm:prSet presAssocID="{6BF72B7B-BDB5-447A-A0A4-FEDD12E03C1E}" presName="composite" presStyleCnt="0">
        <dgm:presLayoutVars>
          <dgm:chMax val="1"/>
          <dgm:dir/>
          <dgm:resizeHandles val="exact"/>
        </dgm:presLayoutVars>
      </dgm:prSet>
      <dgm:spPr/>
    </dgm:pt>
    <dgm:pt modelId="{AD9C4B04-4296-40DE-8807-5EDAB8006C27}" type="pres">
      <dgm:prSet presAssocID="{6BF72B7B-BDB5-447A-A0A4-FEDD12E03C1E}" presName="radial" presStyleCnt="0">
        <dgm:presLayoutVars>
          <dgm:animLvl val="ctr"/>
        </dgm:presLayoutVars>
      </dgm:prSet>
      <dgm:spPr/>
    </dgm:pt>
    <dgm:pt modelId="{CBE8EC00-F30F-4D31-AE50-10A93F6D511C}" type="pres">
      <dgm:prSet presAssocID="{EDD5175B-AAA4-438B-BB22-BE46E8286D5A}" presName="centerShape" presStyleLbl="vennNode1" presStyleIdx="0" presStyleCnt="5" custScaleX="124248"/>
      <dgm:spPr/>
    </dgm:pt>
    <dgm:pt modelId="{F4A812A1-8B82-4B5F-B929-7D67140C88C1}" type="pres">
      <dgm:prSet presAssocID="{FF66402E-01F4-4943-BE7C-EADB1620C664}" presName="node" presStyleLbl="vennNode1" presStyleIdx="1" presStyleCnt="5" custScaleX="168725">
        <dgm:presLayoutVars>
          <dgm:bulletEnabled val="1"/>
        </dgm:presLayoutVars>
      </dgm:prSet>
      <dgm:spPr/>
    </dgm:pt>
    <dgm:pt modelId="{AFEBB0D0-96FE-420D-8932-F392BDC34645}" type="pres">
      <dgm:prSet presAssocID="{27C42303-082A-4875-91DF-5A105DFE07B6}" presName="node" presStyleLbl="vennNode1" presStyleIdx="2" presStyleCnt="5" custScaleX="135549">
        <dgm:presLayoutVars>
          <dgm:bulletEnabled val="1"/>
        </dgm:presLayoutVars>
      </dgm:prSet>
      <dgm:spPr/>
    </dgm:pt>
    <dgm:pt modelId="{4269593C-D0FC-4C21-8104-986B17A12614}" type="pres">
      <dgm:prSet presAssocID="{110015A8-66A7-463C-9E33-72528992761C}" presName="node" presStyleLbl="vennNode1" presStyleIdx="3" presStyleCnt="5" custScaleX="161398">
        <dgm:presLayoutVars>
          <dgm:bulletEnabled val="1"/>
        </dgm:presLayoutVars>
      </dgm:prSet>
      <dgm:spPr/>
    </dgm:pt>
    <dgm:pt modelId="{E6D1C225-B758-4247-952D-19D72C2632BF}" type="pres">
      <dgm:prSet presAssocID="{CA37B8A5-1C80-4BD1-97E6-67BE73B29814}" presName="node" presStyleLbl="vennNode1" presStyleIdx="4" presStyleCnt="5" custScaleX="120896">
        <dgm:presLayoutVars>
          <dgm:bulletEnabled val="1"/>
        </dgm:presLayoutVars>
      </dgm:prSet>
      <dgm:spPr/>
    </dgm:pt>
  </dgm:ptLst>
  <dgm:cxnLst>
    <dgm:cxn modelId="{0CF9150A-8A4B-48F6-99F7-FC73ACFC38D4}" srcId="{EDD5175B-AAA4-438B-BB22-BE46E8286D5A}" destId="{110015A8-66A7-463C-9E33-72528992761C}" srcOrd="2" destOrd="0" parTransId="{475EF747-4177-4AC8-AD22-DFD02A67E907}" sibTransId="{2F7CFBFA-45E7-448F-9A9E-3A4B16D02D24}"/>
    <dgm:cxn modelId="{82AAFA0A-D676-440E-9E3B-13785FC738D2}" type="presOf" srcId="{110015A8-66A7-463C-9E33-72528992761C}" destId="{4269593C-D0FC-4C21-8104-986B17A12614}" srcOrd="0" destOrd="0" presId="urn:microsoft.com/office/officeart/2005/8/layout/radial3"/>
    <dgm:cxn modelId="{8BE2E00F-2E22-4989-A520-0E3CEA287405}" type="presOf" srcId="{CA37B8A5-1C80-4BD1-97E6-67BE73B29814}" destId="{E6D1C225-B758-4247-952D-19D72C2632BF}" srcOrd="0" destOrd="0" presId="urn:microsoft.com/office/officeart/2005/8/layout/radial3"/>
    <dgm:cxn modelId="{EF0AC51A-8E25-4B2F-9C9B-711E03577D6C}" srcId="{EDD5175B-AAA4-438B-BB22-BE46E8286D5A}" destId="{CA37B8A5-1C80-4BD1-97E6-67BE73B29814}" srcOrd="3" destOrd="0" parTransId="{6BE20337-3AFA-473E-8BFE-CAE12E33270D}" sibTransId="{E6B6AC76-D6B9-4A70-B86F-A65C61F317C4}"/>
    <dgm:cxn modelId="{95AF0333-FC8B-4E72-8BCE-DA39F4ECF3C2}" srcId="{6BF72B7B-BDB5-447A-A0A4-FEDD12E03C1E}" destId="{EDD5175B-AAA4-438B-BB22-BE46E8286D5A}" srcOrd="0" destOrd="0" parTransId="{FEA1D427-9449-43DC-A506-26166789B67B}" sibTransId="{D16BAC8D-8A04-4DA5-8D98-A0E7124440D9}"/>
    <dgm:cxn modelId="{FF22B43A-C957-41D4-ACBA-12BC32D05C95}" srcId="{EDD5175B-AAA4-438B-BB22-BE46E8286D5A}" destId="{27C42303-082A-4875-91DF-5A105DFE07B6}" srcOrd="1" destOrd="0" parTransId="{64AB00D0-0078-418B-AF8C-73DE66147BA6}" sibTransId="{684147FC-06C8-4980-B98C-74607F93FE1D}"/>
    <dgm:cxn modelId="{A10B8C4E-9FF5-4BE1-B9BB-9F8698AAC907}" type="presOf" srcId="{6BF72B7B-BDB5-447A-A0A4-FEDD12E03C1E}" destId="{7DE8648C-16DF-4565-8E4F-F0B403C75C41}" srcOrd="0" destOrd="0" presId="urn:microsoft.com/office/officeart/2005/8/layout/radial3"/>
    <dgm:cxn modelId="{0616536F-43FB-4748-8FD5-AE3FA77D964B}" type="presOf" srcId="{FF66402E-01F4-4943-BE7C-EADB1620C664}" destId="{F4A812A1-8B82-4B5F-B929-7D67140C88C1}" srcOrd="0" destOrd="0" presId="urn:microsoft.com/office/officeart/2005/8/layout/radial3"/>
    <dgm:cxn modelId="{3D54C87B-3BD1-4F09-AEAD-9D2858BFD592}" type="presOf" srcId="{27C42303-082A-4875-91DF-5A105DFE07B6}" destId="{AFEBB0D0-96FE-420D-8932-F392BDC34645}" srcOrd="0" destOrd="0" presId="urn:microsoft.com/office/officeart/2005/8/layout/radial3"/>
    <dgm:cxn modelId="{37076AAD-3D8E-47D6-8489-9D3D62E0CBA8}" type="presOf" srcId="{EDD5175B-AAA4-438B-BB22-BE46E8286D5A}" destId="{CBE8EC00-F30F-4D31-AE50-10A93F6D511C}" srcOrd="0" destOrd="0" presId="urn:microsoft.com/office/officeart/2005/8/layout/radial3"/>
    <dgm:cxn modelId="{A0EE3FB2-D67A-492E-B370-2D98D85EED4D}" srcId="{EDD5175B-AAA4-438B-BB22-BE46E8286D5A}" destId="{FF66402E-01F4-4943-BE7C-EADB1620C664}" srcOrd="0" destOrd="0" parTransId="{A4DC2A06-F13F-43DC-B134-7BC516A88FD4}" sibTransId="{2B2E487C-1712-4232-919B-4E04778807E4}"/>
    <dgm:cxn modelId="{2F5E369E-6C20-44B0-BA67-360CB82E5F39}" type="presParOf" srcId="{7DE8648C-16DF-4565-8E4F-F0B403C75C41}" destId="{AD9C4B04-4296-40DE-8807-5EDAB8006C27}" srcOrd="0" destOrd="0" presId="urn:microsoft.com/office/officeart/2005/8/layout/radial3"/>
    <dgm:cxn modelId="{353AE6B7-CAA5-4E4B-B6D0-293D3BEA298F}" type="presParOf" srcId="{AD9C4B04-4296-40DE-8807-5EDAB8006C27}" destId="{CBE8EC00-F30F-4D31-AE50-10A93F6D511C}" srcOrd="0" destOrd="0" presId="urn:microsoft.com/office/officeart/2005/8/layout/radial3"/>
    <dgm:cxn modelId="{59AB1A27-D7EC-42C1-AA53-7DBA8903F47C}" type="presParOf" srcId="{AD9C4B04-4296-40DE-8807-5EDAB8006C27}" destId="{F4A812A1-8B82-4B5F-B929-7D67140C88C1}" srcOrd="1" destOrd="0" presId="urn:microsoft.com/office/officeart/2005/8/layout/radial3"/>
    <dgm:cxn modelId="{D0B1BB13-9554-4B18-8ED5-8C1BC393C40E}" type="presParOf" srcId="{AD9C4B04-4296-40DE-8807-5EDAB8006C27}" destId="{AFEBB0D0-96FE-420D-8932-F392BDC34645}" srcOrd="2" destOrd="0" presId="urn:microsoft.com/office/officeart/2005/8/layout/radial3"/>
    <dgm:cxn modelId="{E04787E0-DEE3-4AE8-A357-84AD3741EB03}" type="presParOf" srcId="{AD9C4B04-4296-40DE-8807-5EDAB8006C27}" destId="{4269593C-D0FC-4C21-8104-986B17A12614}" srcOrd="3" destOrd="0" presId="urn:microsoft.com/office/officeart/2005/8/layout/radial3"/>
    <dgm:cxn modelId="{58D99148-D920-4019-9198-79FD99EBDE9C}" type="presParOf" srcId="{AD9C4B04-4296-40DE-8807-5EDAB8006C27}" destId="{E6D1C225-B758-4247-952D-19D72C2632BF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8EC00-F30F-4D31-AE50-10A93F6D511C}">
      <dsp:nvSpPr>
        <dsp:cNvPr id="0" name=""/>
        <dsp:cNvSpPr/>
      </dsp:nvSpPr>
      <dsp:spPr>
        <a:xfrm>
          <a:off x="1126878" y="616767"/>
          <a:ext cx="1909080" cy="1536508"/>
        </a:xfrm>
        <a:prstGeom prst="ellipse">
          <a:avLst/>
        </a:prstGeom>
        <a:solidFill>
          <a:schemeClr val="tx1"/>
        </a:solidFill>
        <a:ln w="12700" cap="flat" cmpd="sng" algn="ctr">
          <a:solidFill>
            <a:srgbClr val="00B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Active Directory</a:t>
          </a:r>
        </a:p>
      </dsp:txBody>
      <dsp:txXfrm>
        <a:off x="1406456" y="841783"/>
        <a:ext cx="1349924" cy="1086476"/>
      </dsp:txXfrm>
    </dsp:sp>
    <dsp:sp modelId="{F4A812A1-8B82-4B5F-B929-7D67140C88C1}">
      <dsp:nvSpPr>
        <dsp:cNvPr id="0" name=""/>
        <dsp:cNvSpPr/>
      </dsp:nvSpPr>
      <dsp:spPr>
        <a:xfrm>
          <a:off x="1433300" y="274"/>
          <a:ext cx="1296236" cy="768254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rgbClr val="00BF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Users</a:t>
          </a:r>
        </a:p>
      </dsp:txBody>
      <dsp:txXfrm>
        <a:off x="1623129" y="112782"/>
        <a:ext cx="916578" cy="543238"/>
      </dsp:txXfrm>
    </dsp:sp>
    <dsp:sp modelId="{AFEBB0D0-96FE-420D-8932-F392BDC34645}">
      <dsp:nvSpPr>
        <dsp:cNvPr id="0" name=""/>
        <dsp:cNvSpPr/>
      </dsp:nvSpPr>
      <dsp:spPr>
        <a:xfrm>
          <a:off x="2561358" y="1000894"/>
          <a:ext cx="1041360" cy="768254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Groups</a:t>
          </a:r>
          <a:r>
            <a:rPr lang="en-IN" sz="1200" b="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 </a:t>
          </a:r>
        </a:p>
      </dsp:txBody>
      <dsp:txXfrm>
        <a:off x="2713862" y="1113402"/>
        <a:ext cx="736352" cy="543238"/>
      </dsp:txXfrm>
    </dsp:sp>
    <dsp:sp modelId="{4269593C-D0FC-4C21-8104-986B17A12614}">
      <dsp:nvSpPr>
        <dsp:cNvPr id="0" name=""/>
        <dsp:cNvSpPr/>
      </dsp:nvSpPr>
      <dsp:spPr>
        <a:xfrm>
          <a:off x="1461445" y="2001514"/>
          <a:ext cx="1239946" cy="768254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Computers</a:t>
          </a:r>
          <a:r>
            <a:rPr lang="en-IN" sz="800" kern="1200" dirty="0">
              <a:solidFill>
                <a:schemeClr val="bg1"/>
              </a:solidFill>
            </a:rPr>
            <a:t> </a:t>
          </a:r>
        </a:p>
      </dsp:txBody>
      <dsp:txXfrm>
        <a:off x="1643031" y="2114022"/>
        <a:ext cx="876774" cy="543238"/>
      </dsp:txXfrm>
    </dsp:sp>
    <dsp:sp modelId="{E6D1C225-B758-4247-952D-19D72C2632BF}">
      <dsp:nvSpPr>
        <dsp:cNvPr id="0" name=""/>
        <dsp:cNvSpPr/>
      </dsp:nvSpPr>
      <dsp:spPr>
        <a:xfrm>
          <a:off x="616403" y="1000894"/>
          <a:ext cx="928788" cy="768254"/>
        </a:xfrm>
        <a:prstGeom prst="ellipse">
          <a:avLst/>
        </a:prstGeom>
        <a:solidFill>
          <a:srgbClr val="D60093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baseline="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rPr>
            <a:t>OUs</a:t>
          </a:r>
        </a:p>
      </dsp:txBody>
      <dsp:txXfrm>
        <a:off x="752421" y="1113402"/>
        <a:ext cx="656752" cy="543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B5730-1693-473B-8498-AAD1F4AC1DF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5FFB4-0B31-4A54-B725-2DA7926E4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929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810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396D-4E2C-8631-F5A7-D78D77B0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4CC9B-0860-73D6-4E25-0F5401407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7AD5F-4EBC-C227-BE72-8BBEAF77B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8867E-6FCB-C14A-1DBA-94CB3B55D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996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B1F33-4F7F-1316-9146-57002234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2257B-98E4-2F07-CB7A-29D055678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7FBE1-7347-49BF-2ADB-427748E06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14FCC-D2BA-F0A6-7C09-816D17285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423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31F6A-91A2-39EF-3A91-27FB363B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FBB8D-E4C3-5DDB-D384-8170FB65A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D5D18-4BF6-399A-9AA9-7B61B1AEB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94C21-1A8F-3DBC-DA74-68D3C3803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286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B001-F27C-0B53-E887-D2023DF3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AC164-19A0-92E2-0F60-9F4F9E8D1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3E5DD-3ED8-4D53-798C-5B94DC9F5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C3FA3-7B9F-D4CA-702E-6D1B6386F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288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FCD5-556D-BE24-5811-1C7DE543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C89E-5888-A378-CC0B-58E8F54CF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3A8CC-5E13-2576-3B58-062DF012D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F8C56-92A2-94CC-DE3B-205DB287A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227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9763-13F9-4931-308D-E5406580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3F5EF-9D5E-DB9F-0897-B285B1620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B030C-0863-A0D9-9EB8-A3C04777C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CE8C1-8928-FA23-9CA5-91F4AC866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26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C1783-CC39-E74C-0AB1-978E83F0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0D13B-790E-A5EA-3E8C-704CCE56C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0E9A2-A261-4030-8368-5B557BA6D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9AB5B-D9C7-F023-E60B-290BF022F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923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52E0-9520-3E63-1023-EF36E6C3B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1C6F9-02FB-D66B-717E-81FF39810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E80BC-BB45-2384-B7F7-DCB477C2F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D7712-EB31-A68C-73C2-06438D508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534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2680-197B-0F93-DAA7-4CC6FA6C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89B80-E66C-5976-91EB-FD2503B14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7E1F6-F6EF-737B-1E18-788EF4DA6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A2FED-DBC9-1017-1D3B-8DB046F45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61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A0A5-93BB-7CE8-9589-923C89755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D5256-0159-AC6B-C849-5040061E6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4124E-5D1A-55CB-31DF-9C043811A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1B4EE-2387-030D-E7A1-B9D57EE58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489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283A5-0889-C5EC-54E0-18276FF69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8CE50-8981-C0CF-3172-2767E3E49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2439F-CC1B-4B76-961A-5E285A640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ABC40-3897-00F0-4826-729D4F9EB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210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3201-E2F4-8AE6-138B-8E5A1D28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B205E-7B4D-CF72-0636-7284B130B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7EDFF-1824-5836-C96D-048BB3CD2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524ED-CBFF-3B22-B16D-CDFE59240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5FFB4-0B31-4A54-B725-2DA7926E40A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49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4B11-5C0E-5EE7-FB44-BE9BD9EC8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65BB6-29EC-A268-EEEC-1D8478D60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2DB39-A1EC-9A2A-18CC-6CEE9EDE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0EFB8-EE2A-3565-715C-C48FA55B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0D2FD-D452-3E91-0BF3-A46E2E85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1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486D-B2A6-250C-61B1-A5768D747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996DE-36C3-2EDD-C87F-983A59D88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63F50-2CC6-8256-8F12-9AFE249B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8C699-AC49-1CDC-B09D-C9318DB9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E7F4C-C5A9-1925-5DFD-149EEE86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48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0D3C-D522-752E-6540-25EF0ADBA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E5399-FC41-E397-C322-5EC1657E2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90D33-EA6B-6510-E345-BC20538D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E17A9-8C69-CADE-683A-1E474BD4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BF709-4237-F64D-D44E-F2D5DFE6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43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96F9-5FEF-D8F0-A62F-02354C6D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6D9A-66FF-AF07-41F4-9650C759C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07724-0C3C-0450-EA46-7ABD4B802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BF125-C920-9814-717C-48B1B686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62B26-82D5-70F8-60BE-D9ADDE8F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948B0-893E-DBA3-8C8D-41E3C638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30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74B6-0AAE-8DE6-37B7-6DB5E0D3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CF1BC-ADD3-DED0-8480-91850B3DC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21B94-77B6-795F-3FE5-495732905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BBD84-036F-F78D-5323-8AD54A716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6DAC0-65C7-0320-C3AF-ACB400581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69415-2783-368C-A43B-B1456405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338ADD-88BA-8C61-0E04-CE0E0D62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07F82-9A99-70CF-C412-F360CC1E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78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CDB2-AD05-0F85-4A7C-D9FCE76E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5EAC9-B085-3CEA-5E21-BE1FD558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C2CA9-10C0-5E64-C12F-2B4582C9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9181A-F86B-928B-B069-FC474C98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1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AD500-244D-AC62-82B6-CF5DDB6D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C0475E-5069-E275-CED4-60C05F86F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1C0E2-C200-B48B-3489-EFDEF1BF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12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51A3-D569-57F1-E3EF-DDCBCE97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B3D8B-9BF7-53DE-E10B-52446B14B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904D1-6996-AEBE-FC6D-70FF48687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9A533-B3EF-C200-2EEC-6D459AED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DBE2B-937B-3D02-2B44-3182792A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E0A32-DA2E-3C3E-2D53-7227836E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74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B7FF-0840-938D-83D6-4C2CA65D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B7E05-00F7-FC63-DCBB-FE7FC6998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217FB-2FD8-83CC-2C2A-655942367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C30DF-CEE3-A8BC-28F4-85FBCAA6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7F74E-D151-A88D-0B60-88CA124F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46883-3A53-DE2F-9D33-0658064B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19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5E2A-FC3A-653D-7E9A-AA7441D0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D0360-1D5C-327B-2D2F-BD0319CAA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0BC8A-7A10-D035-81E5-2DBA6259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57AC-3039-85D0-9E53-BAFA8A12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37616-D056-3E7D-5CED-69495A0F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07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5F29B-614B-373E-57AA-8FA2D7701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6DFBC-3C28-0253-BB77-FFA4B3ADF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B822-6FDA-D305-6FDD-21F9F846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BF008-9FB3-B1D7-66F6-A96501E7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AE8F8-E4E9-9BC2-04ED-88CE8DE43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9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2EE1E-FDB4-BFE3-BAAF-523E0958B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6B801-9460-2557-DE71-0CEA4995D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67F80-9143-6E67-B645-B606BF847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D06BA-276D-4057-9A8B-C0D524C872E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53681-2272-145C-1D28-389942BF8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697C-9D73-97F4-0DA8-93D22285B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B471-A139-4863-A428-F3D2CD04A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16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6270-7AA2-C737-6483-06DB0FB47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F83E9-058E-B807-BA81-7839F7B63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69342"/>
            <a:ext cx="4080387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373422-EB25-7B6A-D846-A24F38B011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BCFAC2-EB3F-72CA-E6C2-B72D03E43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342838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7607EF-1464-71B4-482D-D84589EE97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33"/>
          <a:stretch>
            <a:fillRect/>
          </a:stretch>
        </p:blipFill>
        <p:spPr>
          <a:xfrm>
            <a:off x="6486162" y="0"/>
            <a:ext cx="5856676" cy="6807200"/>
          </a:xfrm>
          <a:prstGeom prst="rect">
            <a:avLst/>
          </a:prstGeom>
          <a:noFill/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57CF0D03-486E-CA52-2E6A-CAF480931722}"/>
              </a:ext>
            </a:extLst>
          </p:cNvPr>
          <p:cNvSpPr/>
          <p:nvPr/>
        </p:nvSpPr>
        <p:spPr>
          <a:xfrm>
            <a:off x="0" y="0"/>
            <a:ext cx="6467192" cy="6858000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80C884-5297-B1AB-0574-80DEE6999522}"/>
              </a:ext>
            </a:extLst>
          </p:cNvPr>
          <p:cNvSpPr txBox="1"/>
          <p:nvPr/>
        </p:nvSpPr>
        <p:spPr>
          <a:xfrm>
            <a:off x="297280" y="207618"/>
            <a:ext cx="61699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ACTIVE DIRECTORY USERS AND COMPUTERS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4F5F5A-F18F-10ED-0C2E-59CE35E2F615}"/>
              </a:ext>
            </a:extLst>
          </p:cNvPr>
          <p:cNvCxnSpPr>
            <a:cxnSpLocks/>
          </p:cNvCxnSpPr>
          <p:nvPr/>
        </p:nvCxnSpPr>
        <p:spPr>
          <a:xfrm>
            <a:off x="312712" y="1455174"/>
            <a:ext cx="6078256" cy="0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EFD04D4-968F-C326-9521-AE24059E12D3}"/>
              </a:ext>
            </a:extLst>
          </p:cNvPr>
          <p:cNvSpPr txBox="1"/>
          <p:nvPr/>
        </p:nvSpPr>
        <p:spPr>
          <a:xfrm>
            <a:off x="408368" y="1788259"/>
            <a:ext cx="4133152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Industrial Training Project Presentation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CD57D7-E6AD-F19F-5E4A-2013002F3AC0}"/>
              </a:ext>
            </a:extLst>
          </p:cNvPr>
          <p:cNvSpPr txBox="1"/>
          <p:nvPr/>
        </p:nvSpPr>
        <p:spPr>
          <a:xfrm>
            <a:off x="297280" y="2215952"/>
            <a:ext cx="501088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</a:t>
            </a:r>
            <a:r>
              <a:rPr lang="en-IN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REPARED</a:t>
            </a:r>
            <a:r>
              <a:rPr lang="en-IN" sz="2000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B</a:t>
            </a:r>
            <a:r>
              <a:rPr lang="en-IN" b="1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Y </a:t>
            </a:r>
            <a:endParaRPr lang="en-IN" sz="2000" b="1" dirty="0">
              <a:solidFill>
                <a:srgbClr val="00B0F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IN" sz="2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EKAMPREET SINGH </a:t>
            </a:r>
          </a:p>
          <a:p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Bachelor of Technology</a:t>
            </a:r>
          </a:p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(Computer Science &amp; Engineering)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Cybersecurity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SUBMITTED TO</a:t>
            </a:r>
          </a:p>
          <a:p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Mr. Manpreet Singh 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GUIDED BY</a:t>
            </a:r>
          </a:p>
          <a:p>
            <a:r>
              <a:rPr lang="en-US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Mr. Khushdeep Singh  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37" name="Graphic 36" descr="User with solid fill">
            <a:extLst>
              <a:ext uri="{FF2B5EF4-FFF2-40B4-BE49-F238E27FC236}">
                <a16:creationId xmlns:a16="http://schemas.microsoft.com/office/drawing/2014/main" id="{F45930F4-8BE8-C79A-1836-879886BB7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708" y="2316135"/>
            <a:ext cx="210864" cy="216000"/>
          </a:xfrm>
          <a:prstGeom prst="rect">
            <a:avLst/>
          </a:prstGeom>
        </p:spPr>
      </p:pic>
      <p:pic>
        <p:nvPicPr>
          <p:cNvPr id="39" name="Graphic 38" descr="Graduation cap with solid fill">
            <a:extLst>
              <a:ext uri="{FF2B5EF4-FFF2-40B4-BE49-F238E27FC236}">
                <a16:creationId xmlns:a16="http://schemas.microsoft.com/office/drawing/2014/main" id="{5E38A6A0-028E-B98D-E6F0-25BA637E4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330" y="3525199"/>
            <a:ext cx="216000" cy="216000"/>
          </a:xfrm>
          <a:prstGeom prst="rect">
            <a:avLst/>
          </a:prstGeom>
        </p:spPr>
      </p:pic>
      <p:pic>
        <p:nvPicPr>
          <p:cNvPr id="41" name="Graphic 40" descr="Lock with solid fill">
            <a:extLst>
              <a:ext uri="{FF2B5EF4-FFF2-40B4-BE49-F238E27FC236}">
                <a16:creationId xmlns:a16="http://schemas.microsoft.com/office/drawing/2014/main" id="{7C133D02-9C31-8FFE-F287-AF0EC87F0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00" y="4357966"/>
            <a:ext cx="216000" cy="216000"/>
          </a:xfrm>
          <a:prstGeom prst="rect">
            <a:avLst/>
          </a:prstGeom>
        </p:spPr>
      </p:pic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516C6C60-FDE1-34B0-E510-816898FC5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633" y="5194341"/>
            <a:ext cx="216000" cy="216000"/>
          </a:xfrm>
          <a:prstGeom prst="rect">
            <a:avLst/>
          </a:prstGeom>
        </p:spPr>
      </p:pic>
      <p:pic>
        <p:nvPicPr>
          <p:cNvPr id="48" name="Graphic 47" descr="Target Audience with solid fill">
            <a:extLst>
              <a:ext uri="{FF2B5EF4-FFF2-40B4-BE49-F238E27FC236}">
                <a16:creationId xmlns:a16="http://schemas.microsoft.com/office/drawing/2014/main" id="{0C07499F-2A03-3DA3-8F22-11F977481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30" y="5984240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7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7A8D-E60A-8488-B492-FA09E8CA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AE29-6283-C7FA-EAC7-B7F7491B9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C8DC3-336F-7AD5-FE9A-9A432D025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19E562-961C-D51C-0376-24E44242D3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0F16BA-29AF-C929-FF55-B8A9354C8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5480F788-D960-C7A6-F951-560E9BCB406D}"/>
              </a:ext>
            </a:extLst>
          </p:cNvPr>
          <p:cNvSpPr/>
          <p:nvPr/>
        </p:nvSpPr>
        <p:spPr>
          <a:xfrm>
            <a:off x="-27549" y="0"/>
            <a:ext cx="12322519" cy="6858000"/>
          </a:xfrm>
          <a:prstGeom prst="rect">
            <a:avLst/>
          </a:prstGeom>
          <a:solidFill>
            <a:schemeClr val="accent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													          	 • </a:t>
            </a: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Active Directory (AD) is a directory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service developed by Microsoft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for Windows Server.</a:t>
            </a:r>
          </a:p>
          <a:p>
            <a:pPr>
              <a:lnSpc>
                <a:spcPct val="130000"/>
              </a:lnSpc>
            </a:pPr>
            <a:endParaRPr lang="en-US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•</a:t>
            </a: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It provides centralized management 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   of users, computers, groups, and 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	    network resources.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			</a:t>
            </a:r>
            <a:r>
              <a:rPr lang="en-IN" dirty="0"/>
              <a:t>																	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3D7E3-EE6D-A676-9842-9545E2697E98}"/>
              </a:ext>
            </a:extLst>
          </p:cNvPr>
          <p:cNvSpPr txBox="1"/>
          <p:nvPr/>
        </p:nvSpPr>
        <p:spPr>
          <a:xfrm>
            <a:off x="954110" y="512160"/>
            <a:ext cx="46669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>
                <a:solidFill>
                  <a:srgbClr val="00B0F0"/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2B1A49-FF13-5AA3-C1D7-40F740CF6AE5}"/>
              </a:ext>
            </a:extLst>
          </p:cNvPr>
          <p:cNvCxnSpPr>
            <a:cxnSpLocks/>
          </p:cNvCxnSpPr>
          <p:nvPr/>
        </p:nvCxnSpPr>
        <p:spPr>
          <a:xfrm>
            <a:off x="665353" y="1174344"/>
            <a:ext cx="5506066" cy="0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55564E0-6A29-4E8A-E02B-D94CBC757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419" y="277761"/>
            <a:ext cx="6161586" cy="6302478"/>
          </a:xfrm>
          <a:prstGeom prst="rect">
            <a:avLst/>
          </a:prstGeom>
          <a:effectLst>
            <a:glow>
              <a:schemeClr val="accent1">
                <a:alpha val="0"/>
              </a:schemeClr>
            </a:glow>
            <a:reflection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3418853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1B823-8970-C33E-79D2-273E1F84B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ACB4-CEB4-9E76-1BF5-5AFB15F6B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2D54A-0C23-8665-7621-7F903E419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DDE215-F7B3-44CB-A77A-3D684BE5B6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A8D3C3-5595-D65D-B030-F7EBD8D20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86D8362-3CC9-6C38-B32E-0D07FF9743A9}"/>
              </a:ext>
            </a:extLst>
          </p:cNvPr>
          <p:cNvSpPr/>
          <p:nvPr/>
        </p:nvSpPr>
        <p:spPr>
          <a:xfrm>
            <a:off x="9832" y="0"/>
            <a:ext cx="12322518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7E4DF4-4C6F-C498-FD8B-A37D921820A7}"/>
              </a:ext>
            </a:extLst>
          </p:cNvPr>
          <p:cNvSpPr txBox="1"/>
          <p:nvPr/>
        </p:nvSpPr>
        <p:spPr>
          <a:xfrm>
            <a:off x="989225" y="492930"/>
            <a:ext cx="69492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0F0"/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WHAT IS ACTIVE DIRECTORY?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7580443-33A1-EF4C-4980-20541B834FD2}"/>
              </a:ext>
            </a:extLst>
          </p:cNvPr>
          <p:cNvCxnSpPr>
            <a:cxnSpLocks/>
          </p:cNvCxnSpPr>
          <p:nvPr/>
        </p:nvCxnSpPr>
        <p:spPr>
          <a:xfrm flipV="1">
            <a:off x="898031" y="1167886"/>
            <a:ext cx="7131628" cy="4306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79FE2F-4097-B49E-B477-238EC8347BFD}"/>
              </a:ext>
            </a:extLst>
          </p:cNvPr>
          <p:cNvSpPr txBox="1"/>
          <p:nvPr/>
        </p:nvSpPr>
        <p:spPr>
          <a:xfrm>
            <a:off x="665353" y="1658662"/>
            <a:ext cx="93898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0F0"/>
              </a:buClr>
              <a:buSzPct val="1300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Active Directory (AD)</a:t>
            </a: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is Microsoft's directory service </a:t>
            </a:r>
          </a:p>
          <a:p>
            <a:pPr>
              <a:buClr>
                <a:srgbClr val="00B0F0"/>
              </a:buClr>
              <a:buSzPct val="130000"/>
            </a:pP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that stores information about users, computers, printers,</a:t>
            </a:r>
          </a:p>
          <a:p>
            <a:pPr>
              <a:buClr>
                <a:srgbClr val="00B0F0"/>
              </a:buClr>
              <a:buSzPct val="130000"/>
            </a:pP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groups, and other network resources in a centralized </a:t>
            </a:r>
          </a:p>
          <a:p>
            <a:pPr>
              <a:buClr>
                <a:srgbClr val="00B0F0"/>
              </a:buClr>
              <a:buSzPct val="130000"/>
            </a:pP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database. </a:t>
            </a:r>
          </a:p>
          <a:p>
            <a:pPr marL="342900" indent="-342900">
              <a:buClr>
                <a:srgbClr val="00B0F0"/>
              </a:buClr>
              <a:buSzPct val="130000"/>
              <a:buFont typeface="Wingdings" panose="05000000000000000000" pitchFamily="2" charset="2"/>
              <a:buChar char="§"/>
            </a:pPr>
            <a:endParaRPr lang="en-IN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Clr>
                <a:srgbClr val="00B0F0"/>
              </a:buClr>
              <a:buSzPct val="130000"/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It authenticates users, authorizes access to resources, </a:t>
            </a:r>
          </a:p>
          <a:p>
            <a:pPr>
              <a:buClr>
                <a:srgbClr val="00B0F0"/>
              </a:buClr>
              <a:buSzPct val="130000"/>
            </a:pP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and allows administrators to manage the entire network</a:t>
            </a:r>
          </a:p>
          <a:p>
            <a:pPr>
              <a:buClr>
                <a:srgbClr val="00B0F0"/>
              </a:buClr>
              <a:buSzPct val="130000"/>
            </a:pP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from a single location. </a:t>
            </a:r>
          </a:p>
          <a:p>
            <a:pPr marL="342900" indent="-342900">
              <a:buClr>
                <a:srgbClr val="00B0F0"/>
              </a:buClr>
              <a:buSzPct val="130000"/>
              <a:buFont typeface="Wingdings" panose="05000000000000000000" pitchFamily="2" charset="2"/>
              <a:buChar char="§"/>
            </a:pPr>
            <a:endParaRPr lang="en-IN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Clr>
                <a:srgbClr val="00B0F0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Active Directory uses a hierarchical structure </a:t>
            </a:r>
          </a:p>
          <a:p>
            <a:pPr>
              <a:buClr>
                <a:srgbClr val="00B0F0"/>
              </a:buClr>
              <a:buSzPct val="130000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consisting of Domains, Organizational Units (OUs),</a:t>
            </a:r>
          </a:p>
          <a:p>
            <a:pPr>
              <a:buClr>
                <a:srgbClr val="00B0F0"/>
              </a:buClr>
              <a:buSzPct val="130000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Users, Groups, and Computers to organize network</a:t>
            </a:r>
          </a:p>
          <a:p>
            <a:pPr>
              <a:buClr>
                <a:srgbClr val="00B0F0"/>
              </a:buClr>
              <a:buSzPct val="130000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resources efficiently.</a:t>
            </a:r>
            <a:endParaRPr lang="en-IN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Clr>
                <a:srgbClr val="00B0F0"/>
              </a:buClr>
              <a:buSzPct val="106000"/>
              <a:buFont typeface="Arial" panose="020B0604020202020204" pitchFamily="34" charset="0"/>
              <a:buChar char="•"/>
            </a:pPr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50" name="Diagram 49">
            <a:extLst>
              <a:ext uri="{FF2B5EF4-FFF2-40B4-BE49-F238E27FC236}">
                <a16:creationId xmlns:a16="http://schemas.microsoft.com/office/drawing/2014/main" id="{A665E80C-2AC9-9579-09AE-20E9D476B1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93433"/>
              </p:ext>
            </p:extLst>
          </p:nvPr>
        </p:nvGraphicFramePr>
        <p:xfrm>
          <a:off x="7938465" y="2340077"/>
          <a:ext cx="4219123" cy="2770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42136359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FA6B3-50CD-C0B9-28F5-D1844ED8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29E5-2E68-25EE-2832-8661E1E3E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8C49F-C396-3E91-1D1C-4C2B2FCDC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BE6D72-CEE5-71DC-0499-978EE2EB1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EC3E36-D3C3-EAE0-47A1-54D5504F4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0D3AF1-3FB9-C213-B4A6-03CBC403DCE4}"/>
              </a:ext>
            </a:extLst>
          </p:cNvPr>
          <p:cNvSpPr>
            <a:spLocks/>
          </p:cNvSpPr>
          <p:nvPr/>
        </p:nvSpPr>
        <p:spPr>
          <a:xfrm>
            <a:off x="-8862" y="0"/>
            <a:ext cx="12322518" cy="6858000"/>
          </a:xfrm>
          <a:prstGeom prst="rect">
            <a:avLst/>
          </a:prstGeom>
          <a:solidFill>
            <a:schemeClr val="accent1">
              <a:lumMod val="5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55D10-99AF-6B44-51D5-C3DCABA23CFA}"/>
              </a:ext>
            </a:extLst>
          </p:cNvPr>
          <p:cNvSpPr txBox="1"/>
          <p:nvPr/>
        </p:nvSpPr>
        <p:spPr>
          <a:xfrm>
            <a:off x="617515" y="424611"/>
            <a:ext cx="99737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bg1"/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FEATURES OF</a:t>
            </a:r>
          </a:p>
          <a:p>
            <a:r>
              <a:rPr lang="en-IN" sz="4000" dirty="0">
                <a:solidFill>
                  <a:srgbClr val="00BFFF"/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ACTIVE DIRECTORY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A259F0-924B-1AFB-1B82-A1E7DC0A96A6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617515" y="1594162"/>
            <a:ext cx="4986872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1EFE6F0-E493-31EA-E0E1-CB54B2D968F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6E55B5"/>
              </a:clrFrom>
              <a:clrTo>
                <a:srgbClr val="6E55B5">
                  <a:alpha val="0"/>
                </a:srgbClr>
              </a:clrTo>
            </a:clrChange>
            <a:duotone>
              <a:prstClr val="black"/>
              <a:srgbClr val="66FFFF">
                <a:tint val="45000"/>
                <a:satMod val="400000"/>
              </a:srgbClr>
            </a:duotone>
          </a:blip>
          <a:srcRect r="3848" b="4361"/>
          <a:stretch>
            <a:fillRect/>
          </a:stretch>
        </p:blipFill>
        <p:spPr>
          <a:xfrm>
            <a:off x="723864" y="1832588"/>
            <a:ext cx="500600" cy="428206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2C0F9C-6F4F-5639-82FC-05319B48926B}"/>
              </a:ext>
            </a:extLst>
          </p:cNvPr>
          <p:cNvSpPr txBox="1">
            <a:spLocks noChangeAspect="1"/>
          </p:cNvSpPr>
          <p:nvPr/>
        </p:nvSpPr>
        <p:spPr>
          <a:xfrm>
            <a:off x="1336658" y="1771612"/>
            <a:ext cx="5010519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bg1"/>
            </a:glow>
          </a:effectLst>
        </p:spPr>
        <p:txBody>
          <a:bodyPr wrap="square" lIns="72000" tIns="0" rIns="216000" bIns="0" rtlCol="0">
            <a:spAutoFit/>
          </a:bodyPr>
          <a:lstStyle/>
          <a:p>
            <a:r>
              <a:rPr lang="en-IN" b="1" dirty="0">
                <a:solidFill>
                  <a:srgbClr val="66FFFF"/>
                </a:solidFill>
              </a:rPr>
              <a:t>CENTRALIZED MANAGEMENT</a:t>
            </a:r>
          </a:p>
          <a:p>
            <a:r>
              <a:rPr lang="en-IN" dirty="0">
                <a:solidFill>
                  <a:schemeClr val="bg1"/>
                </a:solidFill>
              </a:rPr>
              <a:t>Manage all users, computers and resources from a single location.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02047-DD99-F178-6270-21AAAD38452E}"/>
              </a:ext>
            </a:extLst>
          </p:cNvPr>
          <p:cNvSpPr txBox="1">
            <a:spLocks noChangeAspect="1"/>
          </p:cNvSpPr>
          <p:nvPr/>
        </p:nvSpPr>
        <p:spPr>
          <a:xfrm>
            <a:off x="1336657" y="2875666"/>
            <a:ext cx="5004000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bg1"/>
            </a:glow>
          </a:effectLst>
        </p:spPr>
        <p:txBody>
          <a:bodyPr wrap="square" lIns="72000" rtlCol="0">
            <a:spAutoFit/>
          </a:bodyPr>
          <a:lstStyle/>
          <a:p>
            <a:r>
              <a:rPr lang="en-IN" b="1" dirty="0">
                <a:solidFill>
                  <a:srgbClr val="00FF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AUTHENTICATION &amp; AUTHORIZATION </a:t>
            </a:r>
          </a:p>
          <a:p>
            <a:r>
              <a:rPr lang="en-IN" b="1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Provides secure authentication and controls access to resources.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7633AF-F349-44FD-3B0D-B056EA066A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755"/>
          <a:stretch>
            <a:fillRect/>
          </a:stretch>
        </p:blipFill>
        <p:spPr>
          <a:xfrm>
            <a:off x="730038" y="2938774"/>
            <a:ext cx="500600" cy="463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980961-B4ED-AA08-CF8E-743781EC4B4D}"/>
              </a:ext>
            </a:extLst>
          </p:cNvPr>
          <p:cNvSpPr txBox="1">
            <a:spLocks noChangeAspect="1"/>
          </p:cNvSpPr>
          <p:nvPr/>
        </p:nvSpPr>
        <p:spPr>
          <a:xfrm>
            <a:off x="1343177" y="4037422"/>
            <a:ext cx="5004000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bg1"/>
            </a:glow>
          </a:effectLst>
        </p:spPr>
        <p:txBody>
          <a:bodyPr wrap="square" lIns="72000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effectLst>
                  <a:glow rad="38100">
                    <a:schemeClr val="accent1">
                      <a:alpha val="0"/>
                    </a:schemeClr>
                  </a:glo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GROUP POLICY MANAGEMENT</a:t>
            </a:r>
          </a:p>
          <a:p>
            <a:r>
              <a:rPr lang="en-IN" dirty="0">
                <a:solidFill>
                  <a:schemeClr val="bg1"/>
                </a:solidFill>
              </a:rPr>
              <a:t>Enforce policies and configurations across users and computers.</a:t>
            </a:r>
            <a:endParaRPr lang="en-IN" b="1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611CA2-806C-4F9C-9746-F436FDCFAF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565"/>
          <a:stretch>
            <a:fillRect/>
          </a:stretch>
        </p:blipFill>
        <p:spPr>
          <a:xfrm>
            <a:off x="742386" y="4070772"/>
            <a:ext cx="500600" cy="4572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E84B87-2779-E134-C161-C69D68C2B813}"/>
              </a:ext>
            </a:extLst>
          </p:cNvPr>
          <p:cNvSpPr txBox="1">
            <a:spLocks noChangeAspect="1"/>
          </p:cNvSpPr>
          <p:nvPr/>
        </p:nvSpPr>
        <p:spPr>
          <a:xfrm>
            <a:off x="1343177" y="5199178"/>
            <a:ext cx="5004000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bg1"/>
            </a:glow>
          </a:effectLst>
        </p:spPr>
        <p:txBody>
          <a:bodyPr wrap="square" lIns="72000" rtlCol="0">
            <a:spAutoFit/>
          </a:bodyPr>
          <a:lstStyle/>
          <a:p>
            <a:r>
              <a:rPr lang="en-IN" b="1" dirty="0">
                <a:solidFill>
                  <a:srgbClr val="D6009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SCALABILITY</a:t>
            </a:r>
          </a:p>
          <a:p>
            <a:r>
              <a:rPr lang="en-IN" dirty="0">
                <a:solidFill>
                  <a:schemeClr val="bg1"/>
                </a:solidFill>
              </a:rPr>
              <a:t>Easily scales to support small businesses to large enterprises.</a:t>
            </a:r>
            <a:endParaRPr lang="en-IN" b="1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41E2A7B-73CF-CBF0-1197-652ECE3B0F4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300" r="5228" b="8987"/>
          <a:stretch>
            <a:fillRect/>
          </a:stretch>
        </p:blipFill>
        <p:spPr>
          <a:xfrm>
            <a:off x="730039" y="5238633"/>
            <a:ext cx="523642" cy="4572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62A5FA3-A79F-D3F6-1B71-207BF2FC79E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30000" contrast="12000"/>
                    </a14:imgEffect>
                  </a14:imgLayer>
                </a14:imgProps>
              </a:ext>
            </a:extLst>
          </a:blip>
          <a:srcRect l="18906" t="2602" r="23269" b="-2602"/>
          <a:stretch>
            <a:fillRect/>
          </a:stretch>
        </p:blipFill>
        <p:spPr>
          <a:xfrm>
            <a:off x="6687709" y="894734"/>
            <a:ext cx="5268317" cy="539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53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34D35-E71E-DC22-7F32-B2CE03AE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D7BE-950C-1295-E165-ECE92CEF1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D13F4-2780-D37E-E6ED-33038430C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831A1D-C8F8-A386-1BA6-7189A1746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873D8E-C077-5A72-21E5-CD979F1CF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00590A-22FE-0368-D9A4-05F8A7404989}"/>
              </a:ext>
            </a:extLst>
          </p:cNvPr>
          <p:cNvSpPr>
            <a:spLocks/>
          </p:cNvSpPr>
          <p:nvPr/>
        </p:nvSpPr>
        <p:spPr>
          <a:xfrm>
            <a:off x="-8862" y="0"/>
            <a:ext cx="12322518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9F5317-8C61-06A4-A845-DFD879ACCB7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7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2000"/>
                    </a14:imgEffect>
                  </a14:imgLayer>
                </a14:imgProps>
              </a:ext>
            </a:extLst>
          </a:blip>
          <a:srcRect l="57627"/>
          <a:stretch>
            <a:fillRect/>
          </a:stretch>
        </p:blipFill>
        <p:spPr>
          <a:xfrm>
            <a:off x="8858" y="0"/>
            <a:ext cx="1234283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83573F-C6E8-3A31-B723-D5F921D34088}"/>
              </a:ext>
            </a:extLst>
          </p:cNvPr>
          <p:cNvSpPr txBox="1"/>
          <p:nvPr/>
        </p:nvSpPr>
        <p:spPr>
          <a:xfrm>
            <a:off x="777674" y="382622"/>
            <a:ext cx="69492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FFF"/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OBJECTIVES OF THE PROJECT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12CAD6A-D065-7BE5-F993-915695845076}"/>
              </a:ext>
            </a:extLst>
          </p:cNvPr>
          <p:cNvCxnSpPr>
            <a:cxnSpLocks/>
          </p:cNvCxnSpPr>
          <p:nvPr/>
        </p:nvCxnSpPr>
        <p:spPr>
          <a:xfrm flipV="1">
            <a:off x="777674" y="1033605"/>
            <a:ext cx="7131628" cy="4306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F1E7007-201C-5189-2528-4B32264CB701}"/>
              </a:ext>
            </a:extLst>
          </p:cNvPr>
          <p:cNvSpPr txBox="1"/>
          <p:nvPr/>
        </p:nvSpPr>
        <p:spPr>
          <a:xfrm>
            <a:off x="838741" y="1630770"/>
            <a:ext cx="6797923" cy="40934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66FFFF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Understand the fundamentals of Active Directory.</a:t>
            </a:r>
          </a:p>
          <a:p>
            <a:pPr>
              <a:buClr>
                <a:srgbClr val="00BFFF"/>
              </a:buClr>
            </a:pPr>
            <a:endParaRPr lang="en-US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Clr>
                <a:srgbClr val="00FF0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Learn to create and manage users, groups, and computers.</a:t>
            </a:r>
          </a:p>
          <a:p>
            <a:endParaRPr lang="en-US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Organize network resources using Organizational Units (OUs).</a:t>
            </a:r>
          </a:p>
          <a:p>
            <a:endParaRPr lang="en-US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Configure Group Policies for centralized</a:t>
            </a:r>
          </a:p>
          <a:p>
            <a:pPr>
              <a:buClr>
                <a:srgbClr val="0000FF"/>
              </a:buClr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management.</a:t>
            </a:r>
          </a:p>
          <a:p>
            <a:endParaRPr lang="en-US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Improve security and simplify administration in Windows Server.</a:t>
            </a:r>
            <a:endParaRPr lang="en-IN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87249-2B79-FC95-64DF-1C58D4DDA9D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92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09302" y="2011507"/>
            <a:ext cx="3943972" cy="333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8785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79480-F91E-9E24-47A6-047ED440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2ECD-8294-4F5B-598D-0345B8DF1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F65F2-E0DC-C984-2DFB-9DC79C140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3062B3-670E-807A-DA34-52F7189AE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052AAE-EE6D-F926-545E-180749F63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974B57-7417-542B-77C9-011FF6695AF0}"/>
              </a:ext>
            </a:extLst>
          </p:cNvPr>
          <p:cNvSpPr>
            <a:spLocks/>
          </p:cNvSpPr>
          <p:nvPr/>
        </p:nvSpPr>
        <p:spPr>
          <a:xfrm>
            <a:off x="20319" y="0"/>
            <a:ext cx="12322518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41074C-F64A-BD4D-E721-E6C84327B683}"/>
              </a:ext>
            </a:extLst>
          </p:cNvPr>
          <p:cNvSpPr txBox="1"/>
          <p:nvPr/>
        </p:nvSpPr>
        <p:spPr>
          <a:xfrm>
            <a:off x="555986" y="278150"/>
            <a:ext cx="1041192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ACTIVE DIRECTORY USERS AND COMPUTERS (ADUC) INTERFACE</a:t>
            </a:r>
            <a:endParaRPr lang="en-IN" sz="3800" dirty="0">
              <a:solidFill>
                <a:srgbClr val="00BFFF"/>
              </a:solidFill>
              <a:latin typeface="Segoe UI Semibold" panose="020B0702040204020203" pitchFamily="34" charset="0"/>
              <a:ea typeface="Sans Serif Collection" panose="020B0502040504020204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BEA7DAB-8B72-928C-22F4-08F08F2F19E7}"/>
              </a:ext>
            </a:extLst>
          </p:cNvPr>
          <p:cNvCxnSpPr>
            <a:cxnSpLocks/>
          </p:cNvCxnSpPr>
          <p:nvPr/>
        </p:nvCxnSpPr>
        <p:spPr>
          <a:xfrm>
            <a:off x="678888" y="1540034"/>
            <a:ext cx="10289024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A6E9501D-FFFB-30CB-0C61-29625B9AF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3400" y="2142834"/>
            <a:ext cx="6172549" cy="418982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7A0055-1AD4-65AF-7343-98038F390E9F}"/>
              </a:ext>
            </a:extLst>
          </p:cNvPr>
          <p:cNvSpPr txBox="1"/>
          <p:nvPr/>
        </p:nvSpPr>
        <p:spPr>
          <a:xfrm>
            <a:off x="500289" y="2480847"/>
            <a:ext cx="51270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Navigation Pane</a:t>
            </a:r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– Displays the domain and organizational structure. </a:t>
            </a:r>
          </a:p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Details Pane</a:t>
            </a:r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– Shows users, groups, computers, and OUs. </a:t>
            </a:r>
          </a:p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Toolbar</a:t>
            </a:r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– Provides quick access to common administrative tasks. </a:t>
            </a:r>
          </a:p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Menu Bar</a:t>
            </a:r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– Contains management and configuration options. </a:t>
            </a:r>
          </a:p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lvl="0" indent="-285750">
              <a:buClr>
                <a:srgbClr val="00BFFF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Domain Tree</a:t>
            </a:r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– Organizes Active Directory objects hierarchically.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5D0D0F-D2E7-0FF9-ADE4-0A5CFA265E28}"/>
              </a:ext>
            </a:extLst>
          </p:cNvPr>
          <p:cNvSpPr txBox="1"/>
          <p:nvPr/>
        </p:nvSpPr>
        <p:spPr>
          <a:xfrm>
            <a:off x="784367" y="1930330"/>
            <a:ext cx="3195484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sz="2400" dirty="0"/>
              <a:t>⚙️</a:t>
            </a:r>
            <a:r>
              <a:rPr lang="en-IN" sz="2400" b="1" dirty="0">
                <a:solidFill>
                  <a:srgbClr val="00B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Interface Overview</a:t>
            </a:r>
          </a:p>
        </p:txBody>
      </p:sp>
    </p:spTree>
    <p:extLst>
      <p:ext uri="{BB962C8B-B14F-4D97-AF65-F5344CB8AC3E}">
        <p14:creationId xmlns:p14="http://schemas.microsoft.com/office/powerpoint/2010/main" val="2956290998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A2FBA-5156-94B2-958D-CF0EB0FB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2658-E4B1-6AFB-9250-6D0FBC491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ABF19-144B-9A6F-052F-FAA221E74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ECCE60-7D8C-BA13-8CD1-7E9AA958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6ABB6A-937D-A137-9528-4B07378AB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756A3FB-5B90-07C3-85C5-12F5996C0438}"/>
              </a:ext>
            </a:extLst>
          </p:cNvPr>
          <p:cNvSpPr>
            <a:spLocks/>
          </p:cNvSpPr>
          <p:nvPr/>
        </p:nvSpPr>
        <p:spPr>
          <a:xfrm>
            <a:off x="20319" y="0"/>
            <a:ext cx="12322518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AD6EF-9332-3970-B5D6-66D8FFC74ACD}"/>
              </a:ext>
            </a:extLst>
          </p:cNvPr>
          <p:cNvSpPr txBox="1"/>
          <p:nvPr/>
        </p:nvSpPr>
        <p:spPr>
          <a:xfrm>
            <a:off x="555985" y="440475"/>
            <a:ext cx="11321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CREATING AND MANAGING USERS &amp; GROUPS</a:t>
            </a:r>
            <a:endParaRPr lang="en-IN" sz="3800" dirty="0">
              <a:solidFill>
                <a:srgbClr val="00BFFF"/>
              </a:solidFill>
              <a:latin typeface="Segoe UI Semibold" panose="020B0702040204020203" pitchFamily="34" charset="0"/>
              <a:ea typeface="Sans Serif Collection" panose="020B0502040504020204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3A76CA6-41A0-DFBD-C899-A667BF5441FB}"/>
              </a:ext>
            </a:extLst>
          </p:cNvPr>
          <p:cNvCxnSpPr>
            <a:cxnSpLocks/>
          </p:cNvCxnSpPr>
          <p:nvPr/>
        </p:nvCxnSpPr>
        <p:spPr>
          <a:xfrm>
            <a:off x="555985" y="1023933"/>
            <a:ext cx="10505305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CFE45A-2004-31B6-CFAD-2E95081C2AE4}"/>
              </a:ext>
            </a:extLst>
          </p:cNvPr>
          <p:cNvSpPr txBox="1"/>
          <p:nvPr/>
        </p:nvSpPr>
        <p:spPr>
          <a:xfrm>
            <a:off x="777668" y="1712173"/>
            <a:ext cx="4374435" cy="5245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tIns="108000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highlight>
                  <a:srgbClr val="66FFFF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👤</a:t>
            </a:r>
            <a:r>
              <a:rPr lang="en-IN" sz="2400" dirty="0">
                <a:solidFill>
                  <a:srgbClr val="00B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User Management Process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0912C-DDD2-7989-C238-DF4CFBE7BFC4}"/>
              </a:ext>
            </a:extLst>
          </p:cNvPr>
          <p:cNvSpPr txBox="1">
            <a:spLocks noChangeAspect="1"/>
          </p:cNvSpPr>
          <p:nvPr/>
        </p:nvSpPr>
        <p:spPr>
          <a:xfrm>
            <a:off x="922684" y="2672735"/>
            <a:ext cx="39915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Clr>
                <a:srgbClr val="00BFFF"/>
              </a:buClr>
              <a:buFont typeface="+mj-lt"/>
              <a:buAutoNum type="arabicPeriod"/>
            </a:pPr>
            <a:r>
              <a:rPr lang="en-IN" sz="2000" dirty="0">
                <a:solidFill>
                  <a:srgbClr val="FFFF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Create a New User</a:t>
            </a: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			</a:t>
            </a:r>
          </a:p>
          <a:p>
            <a:pPr marL="342900" lvl="0" indent="-342900">
              <a:buClr>
                <a:srgbClr val="00BFFF"/>
              </a:buClr>
              <a:buFont typeface="+mj-lt"/>
              <a:buAutoNum type="arabicPeriod"/>
            </a:pPr>
            <a:r>
              <a:rPr lang="en-IN" sz="2000" dirty="0">
                <a:solidFill>
                  <a:srgbClr val="D6009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Assign User Properties	</a:t>
            </a: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		 </a:t>
            </a:r>
          </a:p>
          <a:p>
            <a:pPr marL="342900" lvl="0" indent="-342900">
              <a:buClr>
                <a:srgbClr val="00BFFF"/>
              </a:buClr>
              <a:buFont typeface="+mj-lt"/>
              <a:buAutoNum type="arabicPeriod"/>
            </a:pPr>
            <a:r>
              <a:rPr lang="en-IN" sz="2000" dirty="0">
                <a:solidFill>
                  <a:schemeClr val="bg1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Add User to Groups </a:t>
            </a: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			</a:t>
            </a:r>
          </a:p>
          <a:p>
            <a:pPr marL="342900" lvl="0" indent="-342900">
              <a:buClr>
                <a:srgbClr val="00BFFF"/>
              </a:buClr>
              <a:buFont typeface="+mj-lt"/>
              <a:buAutoNum type="arabicPeriod"/>
            </a:pPr>
            <a:r>
              <a:rPr lang="en-IN" sz="2000" dirty="0">
                <a:solidFill>
                  <a:srgbClr val="00FF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Configure Password Policy</a:t>
            </a: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		</a:t>
            </a:r>
          </a:p>
          <a:p>
            <a:pPr marL="342900" lvl="0" indent="-342900">
              <a:buClr>
                <a:srgbClr val="00BFFF"/>
              </a:buClr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Verify User Login 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80D416-2A3C-CFD0-1D8D-A9EB6E34F9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9" r="9531" b="8385"/>
          <a:stretch>
            <a:fillRect/>
          </a:stretch>
        </p:blipFill>
        <p:spPr>
          <a:xfrm>
            <a:off x="5388078" y="1380953"/>
            <a:ext cx="6567948" cy="4817990"/>
          </a:xfrm>
          <a:prstGeom prst="roundRect">
            <a:avLst>
              <a:gd name="adj" fmla="val 821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D1BD1EE-2115-4F98-C1DB-D824C1F7DBD2}"/>
              </a:ext>
            </a:extLst>
          </p:cNvPr>
          <p:cNvSpPr txBox="1"/>
          <p:nvPr/>
        </p:nvSpPr>
        <p:spPr>
          <a:xfrm>
            <a:off x="5427408" y="6374741"/>
            <a:ext cx="6647580" cy="307461"/>
          </a:xfrm>
          <a:prstGeom prst="rect">
            <a:avLst/>
          </a:prstGeom>
          <a:solidFill>
            <a:srgbClr val="000066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Successfully Created Domain User (Member1) in the IT Organizational Unit (OU)</a:t>
            </a:r>
          </a:p>
        </p:txBody>
      </p:sp>
    </p:spTree>
    <p:extLst>
      <p:ext uri="{BB962C8B-B14F-4D97-AF65-F5344CB8AC3E}">
        <p14:creationId xmlns:p14="http://schemas.microsoft.com/office/powerpoint/2010/main" val="319872996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604FC-A738-07A3-7BAD-0AD224DA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6436-7CC2-8A26-1213-769FD98A2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7A915-C3E2-3FA6-F44F-14B83BC43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B85E3A-72C4-ACF5-BC19-9E4ADE964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5F2CB0-91F6-5DE7-C033-B52F3003C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4C6102-5334-7588-5B56-CC00DA1589E6}"/>
              </a:ext>
            </a:extLst>
          </p:cNvPr>
          <p:cNvSpPr>
            <a:spLocks/>
          </p:cNvSpPr>
          <p:nvPr/>
        </p:nvSpPr>
        <p:spPr>
          <a:xfrm>
            <a:off x="20319" y="0"/>
            <a:ext cx="12322518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7F709-0250-B01E-0AB8-9124AADC1E87}"/>
              </a:ext>
            </a:extLst>
          </p:cNvPr>
          <p:cNvSpPr txBox="1"/>
          <p:nvPr/>
        </p:nvSpPr>
        <p:spPr>
          <a:xfrm>
            <a:off x="555985" y="440475"/>
            <a:ext cx="11321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 POLICY MANAGEMENT</a:t>
            </a:r>
            <a:endParaRPr lang="en-IN" sz="3800" dirty="0">
              <a:solidFill>
                <a:srgbClr val="00B0F0"/>
              </a:solidFill>
              <a:latin typeface="Segoe UI Semibold" panose="020B0702040204020203" pitchFamily="34" charset="0"/>
              <a:ea typeface="Sans Serif Collection" panose="020B0502040504020204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4F9C57-5F76-CE2C-0AB1-187A380577CF}"/>
              </a:ext>
            </a:extLst>
          </p:cNvPr>
          <p:cNvCxnSpPr>
            <a:cxnSpLocks/>
          </p:cNvCxnSpPr>
          <p:nvPr/>
        </p:nvCxnSpPr>
        <p:spPr>
          <a:xfrm>
            <a:off x="555985" y="1023933"/>
            <a:ext cx="7024686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6688AD-64C4-05FE-62AC-EBCC9C943484}"/>
              </a:ext>
            </a:extLst>
          </p:cNvPr>
          <p:cNvSpPr txBox="1"/>
          <p:nvPr/>
        </p:nvSpPr>
        <p:spPr>
          <a:xfrm>
            <a:off x="1101213" y="1307690"/>
            <a:ext cx="3826387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FFF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What is Group Policy?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AD6EC-3D6A-468C-D82E-9F9A3467BCD3}"/>
              </a:ext>
            </a:extLst>
          </p:cNvPr>
          <p:cNvSpPr txBox="1"/>
          <p:nvPr/>
        </p:nvSpPr>
        <p:spPr>
          <a:xfrm>
            <a:off x="1494501" y="1907007"/>
            <a:ext cx="6213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 Policy allows administrators to centrally configure and enforce settings for users and computers within a Windows domain.</a:t>
            </a: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911FC5-F43C-263C-A20B-D155A6180BC0}"/>
              </a:ext>
            </a:extLst>
          </p:cNvPr>
          <p:cNvSpPr txBox="1"/>
          <p:nvPr/>
        </p:nvSpPr>
        <p:spPr>
          <a:xfrm>
            <a:off x="1101213" y="2953037"/>
            <a:ext cx="3549445" cy="4308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FFF"/>
              </a:buClr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Functions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4BED1-7BDF-25AE-9D04-2158E0573E02}"/>
              </a:ext>
            </a:extLst>
          </p:cNvPr>
          <p:cNvSpPr txBox="1"/>
          <p:nvPr/>
        </p:nvSpPr>
        <p:spPr>
          <a:xfrm>
            <a:off x="1632155" y="3429000"/>
            <a:ext cx="495546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Security Settings – Enforce password and security policies.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User Configuration – Control user-specific settings.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Computer Configuration – Manage computer settings.</a:t>
            </a:r>
          </a:p>
          <a:p>
            <a:pPr marL="285750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Centralized Control – Apply policies across the domain.</a:t>
            </a:r>
            <a:endParaRPr lang="en-IN" sz="17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689D706-DED1-82BE-33AD-8473BF94A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077" y="2674374"/>
            <a:ext cx="4767991" cy="3411794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glow rad="330200">
              <a:schemeClr val="accent1">
                <a:alpha val="47000"/>
              </a:schemeClr>
            </a:glow>
            <a:reflection blurRad="12700" stA="28000" endPos="28000" dist="5000" dir="5400000" sy="-100000" algn="bl" rotWithShape="0"/>
            <a:softEdge rad="0"/>
          </a:effectLst>
          <a:scene3d>
            <a:camera prst="perspectiveLeft"/>
            <a:lightRig rig="threePt" dir="t"/>
          </a:scene3d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0A3DE04-9C55-0AE8-F80D-A407C86274B7}"/>
              </a:ext>
            </a:extLst>
          </p:cNvPr>
          <p:cNvSpPr txBox="1"/>
          <p:nvPr/>
        </p:nvSpPr>
        <p:spPr>
          <a:xfrm>
            <a:off x="7255879" y="6318195"/>
            <a:ext cx="4080386" cy="307777"/>
          </a:xfrm>
          <a:prstGeom prst="rect">
            <a:avLst/>
          </a:prstGeom>
          <a:solidFill>
            <a:srgbClr val="000066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 Policy Updated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4085869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FA9C2-5708-51CD-43A5-91B532FE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371D-999A-3D76-B8BD-B1E6B7F13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1CCB1-2AE3-8FEA-FB55-E2B1DF1D6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341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C237D6-A984-ACA4-7CB2-23A43D0F2E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17343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67A97F-E746-FC8B-BC68-1B1771217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60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7C51BE-DB0C-667F-F112-4CDB210966C8}"/>
              </a:ext>
            </a:extLst>
          </p:cNvPr>
          <p:cNvSpPr>
            <a:spLocks/>
          </p:cNvSpPr>
          <p:nvPr/>
        </p:nvSpPr>
        <p:spPr>
          <a:xfrm>
            <a:off x="-58339" y="36871"/>
            <a:ext cx="12322518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7D20F-40E1-496E-6219-2772D17F55D0}"/>
              </a:ext>
            </a:extLst>
          </p:cNvPr>
          <p:cNvSpPr txBox="1"/>
          <p:nvPr/>
        </p:nvSpPr>
        <p:spPr>
          <a:xfrm>
            <a:off x="477327" y="440475"/>
            <a:ext cx="11321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ORGANIZATIONAL UNITS (OUs)</a:t>
            </a:r>
            <a:endParaRPr lang="en-IN" sz="3800" dirty="0">
              <a:solidFill>
                <a:srgbClr val="00B0F0"/>
              </a:solidFill>
              <a:latin typeface="Segoe UI Semibold" panose="020B0702040204020203" pitchFamily="34" charset="0"/>
              <a:ea typeface="Sans Serif Collection" panose="020B0502040504020204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5F41F24-13F6-E210-DFAC-0497534BD1EA}"/>
              </a:ext>
            </a:extLst>
          </p:cNvPr>
          <p:cNvCxnSpPr>
            <a:cxnSpLocks/>
          </p:cNvCxnSpPr>
          <p:nvPr/>
        </p:nvCxnSpPr>
        <p:spPr>
          <a:xfrm>
            <a:off x="477327" y="1023933"/>
            <a:ext cx="7024686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8C6413-63B2-21E4-3767-EC64E912304B}"/>
              </a:ext>
            </a:extLst>
          </p:cNvPr>
          <p:cNvSpPr txBox="1"/>
          <p:nvPr/>
        </p:nvSpPr>
        <p:spPr>
          <a:xfrm>
            <a:off x="477327" y="1321894"/>
            <a:ext cx="539791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0F0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Purpose of Organizational Units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E0D41-9336-6F44-D281-A55FBB067C4C}"/>
              </a:ext>
            </a:extLst>
          </p:cNvPr>
          <p:cNvSpPr txBox="1"/>
          <p:nvPr/>
        </p:nvSpPr>
        <p:spPr>
          <a:xfrm>
            <a:off x="752515" y="1753496"/>
            <a:ext cx="6096000" cy="128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Organizational Units (OUs) provide a structured way to organize and manage users, computers, and groups within a domain.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68E240-82FC-0752-8022-8B07C0EE5D9B}"/>
              </a:ext>
            </a:extLst>
          </p:cNvPr>
          <p:cNvSpPr txBox="1"/>
          <p:nvPr/>
        </p:nvSpPr>
        <p:spPr>
          <a:xfrm>
            <a:off x="479477" y="3386406"/>
            <a:ext cx="3421626" cy="4308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2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How OUs Help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416D43-2860-70FE-6F30-3C4911BFF635}"/>
              </a:ext>
            </a:extLst>
          </p:cNvPr>
          <p:cNvSpPr txBox="1"/>
          <p:nvPr/>
        </p:nvSpPr>
        <p:spPr>
          <a:xfrm>
            <a:off x="477327" y="3889611"/>
            <a:ext cx="7580671" cy="1613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Organization – Groups related users and computers.</a:t>
            </a: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Delegation – Allows administrators to manage specific OUs.</a:t>
            </a: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Policy Management – Applies Group Policies to selected objects.</a:t>
            </a: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Simplified Administration – Makes large domains easier to manage.</a:t>
            </a:r>
            <a:endParaRPr lang="en-IN" sz="17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EA73FA-6996-789D-D435-BBBC19CB1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369" y="2773117"/>
            <a:ext cx="4356000" cy="3644408"/>
          </a:xfrm>
          <a:prstGeom prst="round2DiagRect">
            <a:avLst>
              <a:gd name="adj1" fmla="val 425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glow rad="127000">
              <a:schemeClr val="accent5"/>
            </a:glow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9272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929BD-2DEC-951A-1A87-4B92551D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1FC0-9BE1-08F0-E129-A95BB11F5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9F89A-0537-029E-76C3-E533158F4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341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3E379-5B8F-B3EB-6D43-6A06ACE8B0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17343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3312A1-D71F-BFF1-C7EB-D30BE4662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60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46C563-573A-B8C0-0B89-85962009857B}"/>
              </a:ext>
            </a:extLst>
          </p:cNvPr>
          <p:cNvSpPr>
            <a:spLocks/>
          </p:cNvSpPr>
          <p:nvPr/>
        </p:nvSpPr>
        <p:spPr>
          <a:xfrm>
            <a:off x="-78660" y="0"/>
            <a:ext cx="12322518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4CE15-1667-6084-42CB-6A9F0C13C0B4}"/>
              </a:ext>
            </a:extLst>
          </p:cNvPr>
          <p:cNvSpPr txBox="1"/>
          <p:nvPr/>
        </p:nvSpPr>
        <p:spPr>
          <a:xfrm>
            <a:off x="477327" y="440475"/>
            <a:ext cx="11321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 MANAGEMENT</a:t>
            </a:r>
            <a:endParaRPr lang="en-IN" sz="3800" dirty="0">
              <a:solidFill>
                <a:srgbClr val="00B0F0"/>
              </a:solidFill>
              <a:latin typeface="Segoe UI Semibold" panose="020B0702040204020203" pitchFamily="34" charset="0"/>
              <a:ea typeface="Sans Serif Collection" panose="020B0502040504020204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E25DC60-9748-6FFC-5FD1-857E1F866EB4}"/>
              </a:ext>
            </a:extLst>
          </p:cNvPr>
          <p:cNvCxnSpPr>
            <a:cxnSpLocks/>
          </p:cNvCxnSpPr>
          <p:nvPr/>
        </p:nvCxnSpPr>
        <p:spPr>
          <a:xfrm>
            <a:off x="477327" y="1023933"/>
            <a:ext cx="5363034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3543DE-A6C5-0368-EC78-B941D29CE61C}"/>
              </a:ext>
            </a:extLst>
          </p:cNvPr>
          <p:cNvSpPr txBox="1"/>
          <p:nvPr/>
        </p:nvSpPr>
        <p:spPr>
          <a:xfrm>
            <a:off x="914400" y="2284195"/>
            <a:ext cx="4375354" cy="3182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Create Groups — Create security or distribution groups.</a:t>
            </a: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Add Members — Assign users to appropriate groups.</a:t>
            </a: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Manage Permissions — Control access to domain resources.</a:t>
            </a:r>
          </a:p>
          <a:p>
            <a:pPr marL="285750" indent="-2857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US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Review Membership — Verify users and their assigned groups.</a:t>
            </a:r>
            <a:endParaRPr lang="en-IN" sz="17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6DB7F6-995A-C6F9-1A34-A4AA659F8E77}"/>
              </a:ext>
            </a:extLst>
          </p:cNvPr>
          <p:cNvSpPr txBox="1"/>
          <p:nvPr/>
        </p:nvSpPr>
        <p:spPr>
          <a:xfrm>
            <a:off x="545690" y="1478248"/>
            <a:ext cx="4847303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</a:t>
            </a:r>
            <a:r>
              <a:rPr lang="en-IN" sz="22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Management Process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D575197-EAD2-BABC-9975-52223BA96E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481" t="26933" r="7069" b="31347"/>
          <a:stretch>
            <a:fillRect/>
          </a:stretch>
        </p:blipFill>
        <p:spPr>
          <a:xfrm>
            <a:off x="7384027" y="2138972"/>
            <a:ext cx="3893573" cy="28611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AB7504-417E-F378-05ED-9E9F7430EDFC}"/>
              </a:ext>
            </a:extLst>
          </p:cNvPr>
          <p:cNvSpPr txBox="1"/>
          <p:nvPr/>
        </p:nvSpPr>
        <p:spPr>
          <a:xfrm>
            <a:off x="7811892" y="4966204"/>
            <a:ext cx="3037842" cy="461665"/>
          </a:xfrm>
          <a:prstGeom prst="rect">
            <a:avLst/>
          </a:prstGeom>
          <a:noFill/>
          <a:ln>
            <a:solidFill>
              <a:srgbClr val="00BFFF"/>
            </a:solidFill>
          </a:ln>
          <a:effectLst>
            <a:glow rad="1270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 Membership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CDC722-AD6D-4276-831B-5D1469A97471}"/>
              </a:ext>
            </a:extLst>
          </p:cNvPr>
          <p:cNvSpPr txBox="1"/>
          <p:nvPr/>
        </p:nvSpPr>
        <p:spPr>
          <a:xfrm>
            <a:off x="6951407" y="5545394"/>
            <a:ext cx="4758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F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Users can be added to security groups to receive the permissions and access required for their roles.</a:t>
            </a: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814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2DAFA-9130-F3F5-5719-60718D8B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A1F96-9B98-42AC-014D-A8E6BA283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5E597-B8E8-B132-C541-5C80B3455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341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F2E1A2-EFFF-2D87-18CC-D921DE0F9D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17343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06E799-7117-8288-7EAE-96301A03B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60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6F0B61-0C2B-06BD-DD4B-A04A8C6DDF85}"/>
              </a:ext>
            </a:extLst>
          </p:cNvPr>
          <p:cNvSpPr>
            <a:spLocks/>
          </p:cNvSpPr>
          <p:nvPr/>
        </p:nvSpPr>
        <p:spPr>
          <a:xfrm>
            <a:off x="-88821" y="0"/>
            <a:ext cx="12342839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  <a:ln>
            <a:solidFill>
              <a:srgbClr val="00BFFF"/>
            </a:solidFill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92183-04C4-4488-2619-828BA767ACA8}"/>
              </a:ext>
            </a:extLst>
          </p:cNvPr>
          <p:cNvSpPr txBox="1"/>
          <p:nvPr/>
        </p:nvSpPr>
        <p:spPr>
          <a:xfrm>
            <a:off x="477327" y="440475"/>
            <a:ext cx="11321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SECURITY &amp; ACCESS CONTROL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D814FC1-F7A3-E529-2ADE-D5B6123714B1}"/>
              </a:ext>
            </a:extLst>
          </p:cNvPr>
          <p:cNvCxnSpPr>
            <a:cxnSpLocks/>
          </p:cNvCxnSpPr>
          <p:nvPr/>
        </p:nvCxnSpPr>
        <p:spPr>
          <a:xfrm>
            <a:off x="477327" y="1023933"/>
            <a:ext cx="7742438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B704135-BAAF-A168-05FA-00190C92FFE9}"/>
              </a:ext>
            </a:extLst>
          </p:cNvPr>
          <p:cNvSpPr txBox="1"/>
          <p:nvPr/>
        </p:nvSpPr>
        <p:spPr>
          <a:xfrm>
            <a:off x="1145459" y="1830569"/>
            <a:ext cx="3864077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0F0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dirty="0"/>
              <a:t>🔐 </a:t>
            </a:r>
            <a:r>
              <a:rPr lang="en-IN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User Authentication</a:t>
            </a:r>
          </a:p>
          <a:p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Verify user identity before granting access to domain resources.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85ABB-239E-2ACB-2DFD-5C644EBEBDC3}"/>
              </a:ext>
            </a:extLst>
          </p:cNvPr>
          <p:cNvSpPr txBox="1"/>
          <p:nvPr/>
        </p:nvSpPr>
        <p:spPr>
          <a:xfrm>
            <a:off x="1146736" y="3050567"/>
            <a:ext cx="3862800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FFF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dirty="0"/>
              <a:t>🛡️ </a:t>
            </a:r>
            <a:r>
              <a:rPr lang="en-IN" dirty="0">
                <a:solidFill>
                  <a:srgbClr val="66F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Group-Based Permissions</a:t>
            </a:r>
          </a:p>
          <a:p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Assign permissions through security groups.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F538A-126D-BE35-7B86-844F5F4FB9D6}"/>
              </a:ext>
            </a:extLst>
          </p:cNvPr>
          <p:cNvSpPr txBox="1">
            <a:spLocks noChangeAspect="1"/>
          </p:cNvSpPr>
          <p:nvPr/>
        </p:nvSpPr>
        <p:spPr>
          <a:xfrm>
            <a:off x="1145458" y="4270565"/>
            <a:ext cx="3864077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FFF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9900CC"/>
                </a:solidFill>
              </a:rPr>
              <a:t>⚠️ </a:t>
            </a:r>
            <a:r>
              <a:rPr lang="en-IN" dirty="0">
                <a:solidFill>
                  <a:srgbClr val="FF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Account Protection </a:t>
            </a:r>
          </a:p>
          <a:p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Disable or remove unnecessary accounts promptly.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D9A1F9-9620-CD19-78CB-BD53ADBFB38B}"/>
              </a:ext>
            </a:extLst>
          </p:cNvPr>
          <p:cNvSpPr txBox="1">
            <a:spLocks noChangeAspect="1"/>
          </p:cNvSpPr>
          <p:nvPr/>
        </p:nvSpPr>
        <p:spPr>
          <a:xfrm>
            <a:off x="1145458" y="5457701"/>
            <a:ext cx="3864077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FFF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b="1" dirty="0"/>
              <a:t>🚫 </a:t>
            </a:r>
            <a:r>
              <a:rPr lang="en-IN" b="1" dirty="0">
                <a:solidFill>
                  <a:srgbClr val="D60093"/>
                </a:solidFill>
              </a:rPr>
              <a:t>Least Privilege</a:t>
            </a:r>
            <a:br>
              <a:rPr lang="en-IN" dirty="0"/>
            </a:br>
            <a:r>
              <a:rPr lang="en-IN" dirty="0">
                <a:solidFill>
                  <a:schemeClr val="bg1"/>
                </a:solidFill>
              </a:rPr>
              <a:t>Give users only the access required for their roles.</a:t>
            </a:r>
            <a:endParaRPr lang="en-IN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7F2115-F7CA-7434-CCA3-3E15E89B7C99}"/>
              </a:ext>
            </a:extLst>
          </p:cNvPr>
          <p:cNvSpPr txBox="1"/>
          <p:nvPr/>
        </p:nvSpPr>
        <p:spPr>
          <a:xfrm>
            <a:off x="7728155" y="2753899"/>
            <a:ext cx="302833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600" dirty="0"/>
              <a:t>🛡️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FD60CA-11C9-74F3-45F6-969240E52FE9}"/>
              </a:ext>
            </a:extLst>
          </p:cNvPr>
          <p:cNvSpPr/>
          <p:nvPr/>
        </p:nvSpPr>
        <p:spPr>
          <a:xfrm>
            <a:off x="8711381" y="3429000"/>
            <a:ext cx="1061884" cy="106434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200" dirty="0"/>
              <a:t>🔒</a:t>
            </a:r>
            <a:endParaRPr lang="en-IN" sz="2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0A4DE60-A498-1216-C537-7CD046DB0789}"/>
              </a:ext>
            </a:extLst>
          </p:cNvPr>
          <p:cNvSpPr/>
          <p:nvPr/>
        </p:nvSpPr>
        <p:spPr>
          <a:xfrm>
            <a:off x="7296155" y="2105342"/>
            <a:ext cx="864000" cy="8640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📂</a:t>
            </a:r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81DDDF2-7EA0-767D-695B-2CE28237D5CA}"/>
              </a:ext>
            </a:extLst>
          </p:cNvPr>
          <p:cNvSpPr/>
          <p:nvPr/>
        </p:nvSpPr>
        <p:spPr>
          <a:xfrm>
            <a:off x="7296155" y="5175306"/>
            <a:ext cx="864000" cy="864000"/>
          </a:xfrm>
          <a:prstGeom prst="ellipse">
            <a:avLst/>
          </a:prstGeom>
          <a:solidFill>
            <a:srgbClr val="9900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🔑</a:t>
            </a:r>
            <a:endParaRPr lang="en-IN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73BFFD9-4840-E214-A5B6-7F6CB5CD994C}"/>
              </a:ext>
            </a:extLst>
          </p:cNvPr>
          <p:cNvSpPr/>
          <p:nvPr/>
        </p:nvSpPr>
        <p:spPr>
          <a:xfrm>
            <a:off x="10515599" y="2113934"/>
            <a:ext cx="864000" cy="864000"/>
          </a:xfrm>
          <a:prstGeom prst="ellipse">
            <a:avLst/>
          </a:prstGeom>
          <a:solidFill>
            <a:srgbClr val="66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👥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355CFB0-4068-BD50-1EA3-47905E6060DA}"/>
              </a:ext>
            </a:extLst>
          </p:cNvPr>
          <p:cNvSpPr/>
          <p:nvPr/>
        </p:nvSpPr>
        <p:spPr>
          <a:xfrm>
            <a:off x="10515599" y="5151697"/>
            <a:ext cx="864000" cy="8640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0" name="Graphic 39" descr="Warning with solid fill">
            <a:extLst>
              <a:ext uri="{FF2B5EF4-FFF2-40B4-BE49-F238E27FC236}">
                <a16:creationId xmlns:a16="http://schemas.microsoft.com/office/drawing/2014/main" id="{B5B719A9-5B34-5340-C3D9-44A84AB6AA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6093" y="5229685"/>
            <a:ext cx="612000" cy="612000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DCCD3CC-2F9A-E6EC-D975-C937B1796AF7}"/>
              </a:ext>
            </a:extLst>
          </p:cNvPr>
          <p:cNvCxnSpPr/>
          <p:nvPr/>
        </p:nvCxnSpPr>
        <p:spPr>
          <a:xfrm>
            <a:off x="7641031" y="3137053"/>
            <a:ext cx="578737" cy="567159"/>
          </a:xfrm>
          <a:prstGeom prst="bentConnector3">
            <a:avLst>
              <a:gd name="adj1" fmla="val -6000"/>
            </a:avLst>
          </a:prstGeom>
          <a:ln w="6985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CF81E75-E8FD-671F-CFDA-B1047BF38E1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264879" y="3159888"/>
            <a:ext cx="682722" cy="534585"/>
          </a:xfrm>
          <a:prstGeom prst="bentConnector3">
            <a:avLst>
              <a:gd name="adj1" fmla="val 5920"/>
            </a:avLst>
          </a:prstGeom>
          <a:ln w="698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CAD25E11-DE4A-4793-5379-C0F8DA3F2418}"/>
              </a:ext>
            </a:extLst>
          </p:cNvPr>
          <p:cNvCxnSpPr/>
          <p:nvPr/>
        </p:nvCxnSpPr>
        <p:spPr>
          <a:xfrm rot="10800000">
            <a:off x="10264879" y="4493343"/>
            <a:ext cx="682720" cy="551483"/>
          </a:xfrm>
          <a:prstGeom prst="bentConnector3">
            <a:avLst>
              <a:gd name="adj1" fmla="val 5920"/>
            </a:avLst>
          </a:prstGeom>
          <a:ln w="698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D7FE018B-C3EB-3E9B-63A2-DE2DBB79CE98}"/>
              </a:ext>
            </a:extLst>
          </p:cNvPr>
          <p:cNvCxnSpPr>
            <a:cxnSpLocks/>
          </p:cNvCxnSpPr>
          <p:nvPr/>
        </p:nvCxnSpPr>
        <p:spPr>
          <a:xfrm flipV="1">
            <a:off x="7587482" y="4440436"/>
            <a:ext cx="632283" cy="604391"/>
          </a:xfrm>
          <a:prstGeom prst="bentConnector3">
            <a:avLst>
              <a:gd name="adj1" fmla="val 6012"/>
            </a:avLst>
          </a:prstGeom>
          <a:ln w="6985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8903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5BA97-78CC-46F9-135E-088AB5F1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9686-A513-9482-53F4-0381469A4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E9AAF4-E75B-C38D-E687-4CE4F1896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341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2F4A6A-2A0E-AD42-5C9E-C8992537C0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17343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6DD56B-66E9-98F9-9B9D-7C328F673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60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F29DF3-0D57-61B6-7CDC-3416D3D4573E}"/>
              </a:ext>
            </a:extLst>
          </p:cNvPr>
          <p:cNvSpPr>
            <a:spLocks/>
          </p:cNvSpPr>
          <p:nvPr/>
        </p:nvSpPr>
        <p:spPr>
          <a:xfrm>
            <a:off x="-88821" y="0"/>
            <a:ext cx="12342839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  <a:ln>
            <a:solidFill>
              <a:srgbClr val="00BFFF"/>
            </a:solidFill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05DE5-B508-9676-5EEB-8965AA4153DC}"/>
              </a:ext>
            </a:extLst>
          </p:cNvPr>
          <p:cNvSpPr txBox="1"/>
          <p:nvPr/>
        </p:nvSpPr>
        <p:spPr>
          <a:xfrm>
            <a:off x="477327" y="440475"/>
            <a:ext cx="11321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dirty="0">
                <a:solidFill>
                  <a:srgbClr val="00BF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ACTIVE DIRECTORY REUIRED TOOLS 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5BBB763-84A3-C14E-BD38-0A55F25756C1}"/>
              </a:ext>
            </a:extLst>
          </p:cNvPr>
          <p:cNvCxnSpPr>
            <a:cxnSpLocks/>
          </p:cNvCxnSpPr>
          <p:nvPr/>
        </p:nvCxnSpPr>
        <p:spPr>
          <a:xfrm>
            <a:off x="477327" y="1023933"/>
            <a:ext cx="8204449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538520D-13C4-4F78-3F68-6FB93686A087}"/>
              </a:ext>
            </a:extLst>
          </p:cNvPr>
          <p:cNvSpPr txBox="1"/>
          <p:nvPr/>
        </p:nvSpPr>
        <p:spPr>
          <a:xfrm>
            <a:off x="682285" y="1432047"/>
            <a:ext cx="4680000" cy="11849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FFF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🖥️ </a:t>
            </a: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WINDOWS SERVER 2022</a:t>
            </a:r>
          </a:p>
          <a:p>
            <a:r>
              <a:rPr lang="en-IN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Domain Controller - Hosts Active Directory </a:t>
            </a:r>
            <a:r>
              <a:rPr lang="en-IN" sz="17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servicesand</a:t>
            </a:r>
            <a:r>
              <a:rPr lang="en-IN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manages the domain.</a:t>
            </a:r>
          </a:p>
          <a:p>
            <a:endParaRPr lang="en-IN" sz="17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D0241C-EC1B-4C07-5AEE-0D542CCA1AED}"/>
              </a:ext>
            </a:extLst>
          </p:cNvPr>
          <p:cNvSpPr txBox="1"/>
          <p:nvPr/>
        </p:nvSpPr>
        <p:spPr>
          <a:xfrm>
            <a:off x="682285" y="3112180"/>
            <a:ext cx="4680000" cy="118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FFF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FF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📂 Active Directory Users Computers </a:t>
            </a:r>
          </a:p>
          <a:p>
            <a:r>
              <a:rPr lang="en-IN" sz="17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Administration tool used to manage users, groups, computers, and Ous</a:t>
            </a:r>
            <a:r>
              <a:rPr lang="en-IN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</a:p>
          <a:p>
            <a:endParaRPr lang="en-IN" sz="2000" dirty="0">
              <a:solidFill>
                <a:srgbClr val="FF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4F7C0-6E83-7249-D284-7A72AD2F719F}"/>
              </a:ext>
            </a:extLst>
          </p:cNvPr>
          <p:cNvSpPr txBox="1"/>
          <p:nvPr/>
        </p:nvSpPr>
        <p:spPr>
          <a:xfrm>
            <a:off x="6834439" y="1379079"/>
            <a:ext cx="4680000" cy="118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FFF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FF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💻 Windows 10</a:t>
            </a:r>
          </a:p>
          <a:p>
            <a:r>
              <a:rPr lang="en-IN" sz="17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Client operating system used to test domain connectivity and user access.</a:t>
            </a:r>
            <a:endParaRPr lang="en-IN" sz="17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IN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6494B2-C4E9-9873-5751-7AC6B436502C}"/>
              </a:ext>
            </a:extLst>
          </p:cNvPr>
          <p:cNvSpPr txBox="1"/>
          <p:nvPr/>
        </p:nvSpPr>
        <p:spPr>
          <a:xfrm>
            <a:off x="3798018" y="4909902"/>
            <a:ext cx="4680000" cy="118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FFF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IN" sz="2000" b="1" dirty="0"/>
              <a:t>📦 </a:t>
            </a:r>
            <a:r>
              <a:rPr lang="en-IN" sz="2000" b="1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Oracle VirtualBox</a:t>
            </a:r>
          </a:p>
          <a:p>
            <a:r>
              <a:rPr lang="en-IN" sz="17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Virtualization platform used to create the Windows Server and client lab</a:t>
            </a:r>
            <a:r>
              <a:rPr lang="en-IN" sz="1700" b="1" dirty="0">
                <a:solidFill>
                  <a:schemeClr val="bg1"/>
                </a:solidFill>
              </a:rPr>
              <a:t>.</a:t>
            </a:r>
            <a:endParaRPr lang="en-IN" sz="17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3A403A-21C1-888C-5FFA-CFCF914E535C}"/>
              </a:ext>
            </a:extLst>
          </p:cNvPr>
          <p:cNvSpPr txBox="1"/>
          <p:nvPr/>
        </p:nvSpPr>
        <p:spPr>
          <a:xfrm>
            <a:off x="6829715" y="3112275"/>
            <a:ext cx="4680000" cy="1184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00BFFF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2"/>
                </a:solidFill>
              </a:rPr>
              <a:t>⚙️ </a:t>
            </a:r>
            <a:r>
              <a:rPr lang="en-IN" sz="2000" b="1" dirty="0">
                <a:solidFill>
                  <a:srgbClr val="FFFF00"/>
                </a:solidFill>
              </a:rPr>
              <a:t>Group Policy Management</a:t>
            </a:r>
          </a:p>
          <a:p>
            <a:r>
              <a:rPr lang="en-IN" sz="1700" b="1" dirty="0">
                <a:solidFill>
                  <a:schemeClr val="bg1"/>
                </a:solidFill>
              </a:rPr>
              <a:t>Used to configure and enforce policies across the domain.</a:t>
            </a:r>
            <a:endParaRPr lang="en-IN" sz="1700" dirty="0">
              <a:solidFill>
                <a:schemeClr val="bg1"/>
              </a:solidFill>
            </a:endParaRPr>
          </a:p>
          <a:p>
            <a:endParaRPr lang="en-IN" sz="2000" dirty="0">
              <a:solidFill>
                <a:srgbClr val="FF00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783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7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F0510-6927-A7EA-37E3-B1A2B3C5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6215-521B-DC2A-FF2A-3883189C8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178466"/>
            <a:ext cx="4001729" cy="991572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ACTIVE DIRECTORY USERS AND COMPUTERS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F8342-EDE5-FEC5-EDEB-E840AA22D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341" y="2969342"/>
            <a:ext cx="4080388" cy="388865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11EE47-737D-9182-F8AB-9882250EB7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803"/>
          <a:stretch>
            <a:fillRect/>
          </a:stretch>
        </p:blipFill>
        <p:spPr>
          <a:xfrm>
            <a:off x="6017343" y="0"/>
            <a:ext cx="6096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4EC81E-C389-6AAD-036B-A05380A2C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60" y="0"/>
            <a:ext cx="12342839" cy="68580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8EE5506-273A-B92D-4203-BCF1E55F1D48}"/>
              </a:ext>
            </a:extLst>
          </p:cNvPr>
          <p:cNvSpPr>
            <a:spLocks/>
          </p:cNvSpPr>
          <p:nvPr/>
        </p:nvSpPr>
        <p:spPr>
          <a:xfrm>
            <a:off x="-88821" y="0"/>
            <a:ext cx="12342839" cy="6858000"/>
          </a:xfrm>
          <a:prstGeom prst="rect">
            <a:avLst/>
          </a:prstGeom>
          <a:solidFill>
            <a:schemeClr val="accent1">
              <a:lumMod val="50000"/>
              <a:alpha val="57000"/>
            </a:schemeClr>
          </a:solidFill>
          <a:ln>
            <a:solidFill>
              <a:srgbClr val="00BFFF"/>
            </a:solidFill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12B60-3754-EE0D-9BB9-D2A2968A242A}"/>
              </a:ext>
            </a:extLst>
          </p:cNvPr>
          <p:cNvSpPr txBox="1"/>
          <p:nvPr/>
        </p:nvSpPr>
        <p:spPr>
          <a:xfrm>
            <a:off x="4488889" y="3114849"/>
            <a:ext cx="38210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00BFFF"/>
                </a:solidFill>
                <a:cs typeface="Segoe UI Semibold" panose="020B0702040204020203" pitchFamily="34" charset="0"/>
              </a:rPr>
              <a:t>Thank you </a:t>
            </a:r>
          </a:p>
          <a:p>
            <a:pPr algn="ctr"/>
            <a:endParaRPr lang="en-IN" sz="4800" b="1" dirty="0">
              <a:solidFill>
                <a:srgbClr val="00BFFF"/>
              </a:solidFill>
              <a:ea typeface="Sans Serif Collection" panose="020B0502040504020204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919AD29-F814-46A1-B02A-907DCB8BC970}"/>
              </a:ext>
            </a:extLst>
          </p:cNvPr>
          <p:cNvCxnSpPr>
            <a:cxnSpLocks/>
          </p:cNvCxnSpPr>
          <p:nvPr/>
        </p:nvCxnSpPr>
        <p:spPr>
          <a:xfrm>
            <a:off x="2919076" y="4008294"/>
            <a:ext cx="7010593" cy="0"/>
          </a:xfrm>
          <a:prstGeom prst="line">
            <a:avLst/>
          </a:prstGeom>
          <a:ln w="34925" cap="flat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A37BDEC-931F-B360-BA90-06D998296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8660" y="0"/>
            <a:ext cx="12332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8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852</Words>
  <Application>Microsoft Office PowerPoint</Application>
  <PresentationFormat>Widescreen</PresentationFormat>
  <Paragraphs>161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Sans Serif Collection</vt:lpstr>
      <vt:lpstr>Segoe UI</vt:lpstr>
      <vt:lpstr>Segoe UI Semibold</vt:lpstr>
      <vt:lpstr>Wingdings</vt:lpstr>
      <vt:lpstr>Office Theme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  <vt:lpstr>ACTIVE DIRECTORY USERS AND COMPUTERS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Sukhpreet Singh</dc:creator>
  <cp:lastModifiedBy>Sukhpreet Singh</cp:lastModifiedBy>
  <cp:revision>3</cp:revision>
  <dcterms:created xsi:type="dcterms:W3CDTF">2026-08-05T14:14:41Z</dcterms:created>
  <dcterms:modified xsi:type="dcterms:W3CDTF">2026-08-11T06:55:01Z</dcterms:modified>
</cp:coreProperties>
</file>